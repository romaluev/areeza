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80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9" r:id="rId11"/>
    <p:sldId id="264" r:id="rId12"/>
    <p:sldId id="270" r:id="rId13"/>
    <p:sldId id="271" r:id="rId14"/>
    <p:sldId id="272" r:id="rId15"/>
    <p:sldId id="273" r:id="rId16"/>
    <p:sldId id="265" r:id="rId17"/>
    <p:sldId id="274" r:id="rId18"/>
    <p:sldId id="275" r:id="rId19"/>
    <p:sldId id="276" r:id="rId20"/>
    <p:sldId id="277" r:id="rId21"/>
    <p:sldId id="278" r:id="rId22"/>
    <p:sldId id="279" r:id="rId23"/>
    <p:sldId id="267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292"/>
    <p:restoredTop sz="94610"/>
  </p:normalViewPr>
  <p:slideViewPr>
    <p:cSldViewPr snapToGrid="0" snapToObjects="1">
      <p:cViewPr>
        <p:scale>
          <a:sx n="100" d="100"/>
          <a:sy n="100" d="100"/>
        </p:scale>
        <p:origin x="595" y="5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9405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11852"/>
          <a:stretch>
            <a:fillRect/>
          </a:stretch>
        </p:blipFill>
        <p:spPr>
          <a:xfrm>
            <a:off x="0" y="609600"/>
            <a:ext cx="9144000" cy="45339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B87AED9-418A-97A8-E1D7-579390FC08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2033" y="69634"/>
            <a:ext cx="484841" cy="49457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3199AD4-16EE-1478-1E9C-6C6F2CA3E6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4772" y="121920"/>
            <a:ext cx="1141709" cy="3769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16DBD2B-29D1-D143-3223-4474E00841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44554" y="177336"/>
            <a:ext cx="1274666" cy="321526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BC4ABB1-38C9-946E-64C2-4CD4E852FD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0022" y="-176665"/>
            <a:ext cx="974946" cy="974946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0EBCEB2-7DCE-295E-8604-A9A53FCA98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3153" y="24387"/>
            <a:ext cx="857581" cy="5852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E5534B">
              <a:alpha val="30000"/>
            </a:srgbClr>
          </a:solidFill>
          <a:ln w="12700">
            <a:solidFill>
              <a:srgbClr val="E5534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8412480" y="1371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Xakaton Haqida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4846320" cy="2148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54864" cy="214884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448056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Milliy AI Xakaton – O'zbekistonning Sun'iy Intellekt yo'nalishidagi eng yirik loyihalardan biri. Bu loyiha butun mamlakat bo'ylab iqtidorli mutaxassislarga o'zlarini ko'rsatish va IT-yechimlarini amalga oshirishda yordam beradi.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Andijon bosqichi aynan viloyat yoshlari uchun tashkilashtirilgan maxsus bosqich bo'lib, 3 – 6 iyun kunlari o'tadi.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394960" y="777240"/>
            <a:ext cx="3429000" cy="3703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Text 7"/>
          <p:cNvSpPr/>
          <p:nvPr/>
        </p:nvSpPr>
        <p:spPr>
          <a:xfrm>
            <a:off x="8092440" y="86868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532120" y="1005840"/>
            <a:ext cx="3108960" cy="520000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1" name="Text 9"/>
          <p:cNvSpPr/>
          <p:nvPr/>
        </p:nvSpPr>
        <p:spPr>
          <a:xfrm>
            <a:off x="5623560" y="105156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OKTYABR 2025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23560" y="1215840"/>
            <a:ext cx="292608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Birinchi bosqich (Nukus)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32120" y="1653840"/>
            <a:ext cx="3108960" cy="520000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4" name="Text 12"/>
          <p:cNvSpPr/>
          <p:nvPr/>
        </p:nvSpPr>
        <p:spPr>
          <a:xfrm>
            <a:off x="5623560" y="169956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YANVAR 2026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623560" y="1863840"/>
            <a:ext cx="292608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Samarqand bosqichi</a:t>
            </a:r>
            <a:endParaRPr lang="en-US" sz="1100" dirty="0"/>
          </a:p>
        </p:txBody>
      </p:sp>
      <p:sp>
        <p:nvSpPr>
          <p:cNvPr id="30" name="Shape SRX"/>
          <p:cNvSpPr/>
          <p:nvPr/>
        </p:nvSpPr>
        <p:spPr>
          <a:xfrm>
            <a:off x="5532120" y="2301840"/>
            <a:ext cx="3108960" cy="520000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1" name="Text SRX Date"/>
          <p:cNvSpPr/>
          <p:nvPr/>
        </p:nvSpPr>
        <p:spPr>
          <a:xfrm>
            <a:off x="5623560" y="234756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 – APREL 2026</a:t>
            </a:r>
            <a:endParaRPr lang="en-US" sz="800" dirty="0"/>
          </a:p>
        </p:txBody>
      </p:sp>
      <p:sp>
        <p:nvSpPr>
          <p:cNvPr id="32" name="Text SRX Label"/>
          <p:cNvSpPr/>
          <p:nvPr/>
        </p:nvSpPr>
        <p:spPr>
          <a:xfrm>
            <a:off x="5623560" y="2511840"/>
            <a:ext cx="292608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Surxondaryo va Buxoro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32120" y="2949840"/>
            <a:ext cx="3108960" cy="520000"/>
          </a:xfrm>
          <a:prstGeom prst="rect">
            <a:avLst/>
          </a:prstGeom>
          <a:solidFill>
            <a:srgbClr val="1A203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7" name="Text 15"/>
          <p:cNvSpPr/>
          <p:nvPr/>
        </p:nvSpPr>
        <p:spPr>
          <a:xfrm>
            <a:off x="5623560" y="299556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– 23 MAY 2026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23560" y="3159840"/>
            <a:ext cx="292608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Farg‘ona bosqichi</a:t>
            </a:r>
            <a:endParaRPr lang="en-US" sz="1100" dirty="0"/>
          </a:p>
        </p:txBody>
      </p:sp>
      <p:sp>
        <p:nvSpPr>
          <p:cNvPr id="50" name="Shape Andijon BG"/>
          <p:cNvSpPr/>
          <p:nvPr/>
        </p:nvSpPr>
        <p:spPr>
          <a:xfrm>
            <a:off x="5532120" y="3597840"/>
            <a:ext cx="3108960" cy="520000"/>
          </a:xfrm>
          <a:prstGeom prst="rect">
            <a:avLst/>
          </a:prstGeom>
          <a:solidFill>
            <a:srgbClr val="1A2030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51" name="Text Andijon Date"/>
          <p:cNvSpPr/>
          <p:nvPr/>
        </p:nvSpPr>
        <p:spPr>
          <a:xfrm>
            <a:off x="5623560" y="364356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6 IYUN 2026</a:t>
            </a:r>
            <a:endParaRPr lang="en-US" sz="800" dirty="0"/>
          </a:p>
        </p:txBody>
      </p:sp>
      <p:sp>
        <p:nvSpPr>
          <p:cNvPr id="52" name="Text Andijon Label"/>
          <p:cNvSpPr/>
          <p:nvPr/>
        </p:nvSpPr>
        <p:spPr>
          <a:xfrm>
            <a:off x="5623560" y="3808176"/>
            <a:ext cx="292608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Andijon bosqichi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32120" y="4245840"/>
            <a:ext cx="3108960" cy="520000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0" name="Text 18"/>
          <p:cNvSpPr/>
          <p:nvPr/>
        </p:nvSpPr>
        <p:spPr>
          <a:xfrm>
            <a:off x="5623560" y="429156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DEKABR 2026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23560" y="4455840"/>
            <a:ext cx="292608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Katta Final (Toshkent)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154680"/>
            <a:ext cx="1481328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3" name="Text 21"/>
          <p:cNvSpPr/>
          <p:nvPr/>
        </p:nvSpPr>
        <p:spPr>
          <a:xfrm>
            <a:off x="365760" y="3273552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365760" y="3858768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Trek (yo‘nalish)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993392" y="3154680"/>
            <a:ext cx="1481328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6" name="Text 24"/>
          <p:cNvSpPr/>
          <p:nvPr/>
        </p:nvSpPr>
        <p:spPr>
          <a:xfrm>
            <a:off x="1993392" y="3273552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1993392" y="3858768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21024" y="3154680"/>
            <a:ext cx="1481328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9" name="Text 27"/>
          <p:cNvSpPr/>
          <p:nvPr/>
        </p:nvSpPr>
        <p:spPr>
          <a:xfrm>
            <a:off x="3621024" y="3273552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4-5</a:t>
            </a:r>
            <a:endParaRPr lang="en-US" sz="3000" dirty="0"/>
          </a:p>
        </p:txBody>
      </p:sp>
      <p:sp>
        <p:nvSpPr>
          <p:cNvPr id="33" name="Text 28"/>
          <p:cNvSpPr/>
          <p:nvPr/>
        </p:nvSpPr>
        <p:spPr>
          <a:xfrm>
            <a:off x="3621024" y="3858768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a'zolari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E5534B">
              <a:alpha val="30000"/>
            </a:srgbClr>
          </a:solidFill>
          <a:ln w="12700">
            <a:solidFill>
              <a:srgbClr val="E5534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8412480" y="1371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Nima Uchun Andijon Bosqichi Muhim?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606040" cy="3520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6" name="Shape 4"/>
          <p:cNvSpPr/>
          <p:nvPr/>
        </p:nvSpPr>
        <p:spPr>
          <a:xfrm>
            <a:off x="594360" y="1051560"/>
            <a:ext cx="530352" cy="530352"/>
          </a:xfrm>
          <a:prstGeom prst="line">
            <a:avLst/>
          </a:prstGeom>
          <a:solidFill>
            <a:srgbClr val="E5534B">
              <a:alpha val="80000"/>
            </a:srgbClr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11556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5488" y="1737360"/>
            <a:ext cx="2395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Iqtidorlarni Namoyish Etish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75488" y="2331720"/>
            <a:ext cx="23957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Andijon viloyati yoshlari uchun o'z g'oyalarini amalga oshirish va IT-yechimlarini keng ommaga taqdim etish uchun noyob imkoniyat.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" y="4251960"/>
            <a:ext cx="365760" cy="457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1" name="Shape 8"/>
          <p:cNvSpPr/>
          <p:nvPr/>
        </p:nvSpPr>
        <p:spPr>
          <a:xfrm>
            <a:off x="3200400" y="914400"/>
            <a:ext cx="2606040" cy="3520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2" name="Shape 9"/>
          <p:cNvSpPr/>
          <p:nvPr/>
        </p:nvSpPr>
        <p:spPr>
          <a:xfrm>
            <a:off x="3429000" y="1051560"/>
            <a:ext cx="530352" cy="530352"/>
          </a:xfrm>
          <a:prstGeom prst="line">
            <a:avLst/>
          </a:prstGeom>
          <a:solidFill>
            <a:srgbClr val="E5534B">
              <a:alpha val="80000"/>
            </a:srgbClr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152" y="1115568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10128" y="1737360"/>
            <a:ext cx="2395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Mentorlik va Ta'lim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310128" y="2331720"/>
            <a:ext cx="23957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Yetakchi IT-kompaniyalar mentorlaridan yordam, mahorat darslari va seminarlar orqali bilim va ko'nikmalarni oshirish.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310128" y="4251960"/>
            <a:ext cx="365760" cy="457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7" name="Shape 13"/>
          <p:cNvSpPr/>
          <p:nvPr/>
        </p:nvSpPr>
        <p:spPr>
          <a:xfrm>
            <a:off x="6035040" y="914400"/>
            <a:ext cx="2606040" cy="3520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8" name="Shape 14"/>
          <p:cNvSpPr/>
          <p:nvPr/>
        </p:nvSpPr>
        <p:spPr>
          <a:xfrm>
            <a:off x="6263640" y="1051560"/>
            <a:ext cx="530352" cy="530352"/>
          </a:xfrm>
          <a:prstGeom prst="line">
            <a:avLst/>
          </a:prstGeom>
          <a:solidFill>
            <a:srgbClr val="E5534B">
              <a:alpha val="80000"/>
            </a:srgbClr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1115568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44768" y="1737360"/>
            <a:ext cx="2395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Investitsiya va Sovg'alar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144768" y="2331720"/>
            <a:ext cx="23957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G'oliblarni qimmatbaho sovg'alar va o'z loyihalarini to'liq ishga tushirish uchun mablag' jalb qilish imkoniyati.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144768" y="4251960"/>
            <a:ext cx="365760" cy="457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E5534B">
              <a:alpha val="30000"/>
            </a:srgbClr>
          </a:solidFill>
          <a:ln w="12700">
            <a:solidFill>
              <a:srgbClr val="E5534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8412480" y="1371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To‘rtta Asosiy Trek (Yo'nalish)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16052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4160520" cy="5486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7" name="Shape 5"/>
          <p:cNvSpPr/>
          <p:nvPr/>
        </p:nvSpPr>
        <p:spPr>
          <a:xfrm>
            <a:off x="429768" y="950976"/>
            <a:ext cx="475488" cy="292608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Text 6"/>
          <p:cNvSpPr/>
          <p:nvPr/>
        </p:nvSpPr>
        <p:spPr>
          <a:xfrm>
            <a:off x="429768" y="95097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941832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6968" y="95097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Tibbiyot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7200" y="1426464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Tibbiy diagnostika, klinik qaror qo'llab-quvvatlash, raqamli sog'liqni saqlash tizimlarini takomillashtirish </a:t>
            </a:r>
            <a:r>
              <a:rPr lang="en-US" sz="11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telemeditsinani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rivojlantirish.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09160" y="804672"/>
            <a:ext cx="416052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3" name="Shape 10"/>
          <p:cNvSpPr/>
          <p:nvPr/>
        </p:nvSpPr>
        <p:spPr>
          <a:xfrm>
            <a:off x="4709160" y="804672"/>
            <a:ext cx="41605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4" name="Shape 11"/>
          <p:cNvSpPr/>
          <p:nvPr/>
        </p:nvSpPr>
        <p:spPr>
          <a:xfrm>
            <a:off x="4818888" y="950976"/>
            <a:ext cx="475488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5" name="Text 12"/>
          <p:cNvSpPr/>
          <p:nvPr/>
        </p:nvSpPr>
        <p:spPr>
          <a:xfrm>
            <a:off x="4818888" y="95097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941832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76088" y="95097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Tadbirkorlik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846320" y="1426464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Kichik va o'rta biznes uchun AI yechimlar: bozor tahlili, moliyaviy maslahat, CRM integratsiya va iqtisodiy monitoring.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20040" y="2880360"/>
            <a:ext cx="416052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20" name="Shape 16"/>
          <p:cNvSpPr/>
          <p:nvPr/>
        </p:nvSpPr>
        <p:spPr>
          <a:xfrm>
            <a:off x="320040" y="2880360"/>
            <a:ext cx="416052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1" name="Shape 17"/>
          <p:cNvSpPr/>
          <p:nvPr/>
        </p:nvSpPr>
        <p:spPr>
          <a:xfrm>
            <a:off x="429768" y="3026664"/>
            <a:ext cx="47548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2" name="Text 18"/>
          <p:cNvSpPr/>
          <p:nvPr/>
        </p:nvSpPr>
        <p:spPr>
          <a:xfrm>
            <a:off x="429768" y="3026664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3017520"/>
            <a:ext cx="384048" cy="38404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86968" y="302666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Ta'lim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457200" y="3502152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Raqamli interaktiv o'quv platformalari, AI asosida avtomatik baholash va xodimlar malakasini monitoring qilish tizimlari.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709160" y="2880360"/>
            <a:ext cx="416052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31" name="Shape 28"/>
          <p:cNvSpPr/>
          <p:nvPr/>
        </p:nvSpPr>
        <p:spPr>
          <a:xfrm>
            <a:off x="4709160" y="2880360"/>
            <a:ext cx="416052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2" name="Shape 29"/>
          <p:cNvSpPr/>
          <p:nvPr/>
        </p:nvSpPr>
        <p:spPr>
          <a:xfrm>
            <a:off x="4818888" y="3026664"/>
            <a:ext cx="475488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3" name="Text 30"/>
          <p:cNvSpPr/>
          <p:nvPr/>
        </p:nvSpPr>
        <p:spPr>
          <a:xfrm>
            <a:off x="4818888" y="3026664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276088" y="302666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 Tizimi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4846320" y="3502152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 jarayonlarini raqamlashtirish, huquqiy hujjatlarni tahlil qilish, sud qarorlarini prognozlash va fuqarolar uchun huquqiy yordam tizimlari.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E5534B">
              <a:alpha val="30000"/>
            </a:srgbClr>
          </a:solidFill>
          <a:ln w="12700">
            <a:solidFill>
              <a:srgbClr val="E5534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8412480" y="1371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Tuzilishi va Talablar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114800" cy="3749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601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960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Tarkibi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4-5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457200" y="248716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</a:t>
            </a:r>
            <a:r>
              <a:rPr lang="en-US" sz="11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jamoada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 dan 5 gacha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ishtirokchi bo'lishi shart.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Muvaffaqiyatli jamoa turli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mutaxassislardan iborat: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" y="3246120"/>
            <a:ext cx="54864" cy="201168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1" name="Text 8"/>
          <p:cNvSpPr/>
          <p:nvPr/>
        </p:nvSpPr>
        <p:spPr>
          <a:xfrm>
            <a:off x="640080" y="32278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Dasturchilar (Backend, Frontend, AI)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3547872"/>
            <a:ext cx="54864" cy="201168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3" name="Text 10"/>
          <p:cNvSpPr/>
          <p:nvPr/>
        </p:nvSpPr>
        <p:spPr>
          <a:xfrm>
            <a:off x="640080" y="352958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Dizaynerlar (UI/UX)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" y="3849624"/>
            <a:ext cx="54864" cy="201168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5" name="Text 12"/>
          <p:cNvSpPr/>
          <p:nvPr/>
        </p:nvSpPr>
        <p:spPr>
          <a:xfrm>
            <a:off x="640080" y="383133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Biznes-analitiklar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2920" y="4151376"/>
            <a:ext cx="54864" cy="201168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7" name="Text 14"/>
          <p:cNvSpPr/>
          <p:nvPr/>
        </p:nvSpPr>
        <p:spPr>
          <a:xfrm>
            <a:off x="640080" y="413308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menejerlari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09160" y="822960"/>
            <a:ext cx="4114800" cy="3749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960120"/>
            <a:ext cx="411480" cy="4114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440680" y="960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Binoda Bo'lish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4800600" y="150876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Xakaton davomida barcha jamoa a'zolari binoda bo'lishlari SHART.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800600" y="219456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Andijon viloyatining istalgan joyidan qatnashish mumkin, lekin tadbir davomida jismoniy ishtirok shart.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4800600" y="3090672"/>
            <a:ext cx="3840480" cy="1298448"/>
          </a:xfrm>
          <a:prstGeom prst="rect">
            <a:avLst/>
          </a:prstGeom>
          <a:solidFill>
            <a:srgbClr val="0F101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4" name="Shape 20"/>
          <p:cNvSpPr/>
          <p:nvPr/>
        </p:nvSpPr>
        <p:spPr>
          <a:xfrm>
            <a:off x="4800600" y="3090672"/>
            <a:ext cx="54864" cy="1298448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5" name="Text 21"/>
          <p:cNvSpPr/>
          <p:nvPr/>
        </p:nvSpPr>
        <p:spPr>
          <a:xfrm>
            <a:off x="4937760" y="3182112"/>
            <a:ext cx="35661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"Koordinatorlar har 2 soatda jamoalarni nazorat qiladi. Jamoa to'liq tarkibda bo'lmasa, chetlatilishi mumkin."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4892040"/>
            <a:ext cx="9144000" cy="182880"/>
          </a:xfrm>
          <a:prstGeom prst="rect">
            <a:avLst/>
          </a:prstGeom>
          <a:solidFill>
            <a:srgbClr val="E5534B">
              <a:alpha val="30000"/>
            </a:srgbClr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"/>
          <p:cNvSpPr/>
          <p:nvPr/>
        </p:nvSpPr>
        <p:spPr>
          <a:xfrm>
            <a:off x="45720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Andijon Bosqichidan Finalga Yetish Yo'li</a:t>
            </a:r>
            <a:endParaRPr lang="en-US" sz="2600" dirty="0"/>
          </a:p>
        </p:txBody>
      </p:sp>
      <p:sp>
        <p:nvSpPr>
          <p:cNvPr id="4" name="Shape"/>
          <p:cNvSpPr/>
          <p:nvPr/>
        </p:nvSpPr>
        <p:spPr>
          <a:xfrm>
            <a:off x="320040" y="804672"/>
            <a:ext cx="1920240" cy="2468880"/>
          </a:xfrm>
          <a:prstGeom prst="rect">
            <a:avLst/>
          </a:prstGeom>
          <a:solidFill>
            <a:srgbClr val="2D3A5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5" name="Shape"/>
          <p:cNvSpPr/>
          <p:nvPr/>
        </p:nvSpPr>
        <p:spPr>
          <a:xfrm>
            <a:off x="320040" y="804672"/>
            <a:ext cx="1920240" cy="54864"/>
          </a:xfrm>
          <a:prstGeom prst="rect">
            <a:avLst/>
          </a:prstGeom>
          <a:solidFill>
            <a:srgbClr val="2D3A50"/>
          </a:solidFill>
          <a:ln w="12700">
            <a:solidFill>
              <a:srgbClr val="2D3A50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"/>
          <p:cNvSpPr/>
          <p:nvPr/>
        </p:nvSpPr>
        <p:spPr>
          <a:xfrm>
            <a:off x="320040" y="9601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Boshlang’ich
Jamoalar</a:t>
            </a:r>
            <a:endParaRPr lang="en-US" sz="1300" dirty="0"/>
          </a:p>
        </p:txBody>
      </p:sp>
      <p:sp>
        <p:nvSpPr>
          <p:cNvPr id="7" name="Text"/>
          <p:cNvSpPr/>
          <p:nvPr/>
        </p:nvSpPr>
        <p:spPr>
          <a:xfrm>
            <a:off x="320040" y="16916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ro‘yxatdan o‘tganlar</a:t>
            </a:r>
            <a:endParaRPr lang="en-US" sz="1050" dirty="0"/>
          </a:p>
        </p:txBody>
      </p:sp>
      <p:sp>
        <p:nvSpPr>
          <p:cNvPr id="8" name="Shape"/>
          <p:cNvSpPr/>
          <p:nvPr/>
        </p:nvSpPr>
        <p:spPr>
          <a:xfrm>
            <a:off x="2240280" y="1965960"/>
            <a:ext cx="137160" cy="36576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Text"/>
          <p:cNvSpPr/>
          <p:nvPr/>
        </p:nvSpPr>
        <p:spPr>
          <a:xfrm>
            <a:off x="2221992" y="1828800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600" dirty="0"/>
          </a:p>
        </p:txBody>
      </p:sp>
      <p:sp>
        <p:nvSpPr>
          <p:cNvPr id="10" name="Shape"/>
          <p:cNvSpPr/>
          <p:nvPr/>
        </p:nvSpPr>
        <p:spPr>
          <a:xfrm>
            <a:off x="2377440" y="804672"/>
            <a:ext cx="1920240" cy="2468880"/>
          </a:xfrm>
          <a:prstGeom prst="rect">
            <a:avLst/>
          </a:prstGeom>
          <a:solidFill>
            <a:srgbClr val="1A203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1" name="Shape"/>
          <p:cNvSpPr/>
          <p:nvPr/>
        </p:nvSpPr>
        <p:spPr>
          <a:xfrm>
            <a:off x="2377440" y="804672"/>
            <a:ext cx="1920240" cy="5486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2" name="Text"/>
          <p:cNvSpPr/>
          <p:nvPr/>
        </p:nvSpPr>
        <p:spPr>
          <a:xfrm>
            <a:off x="2377440" y="9601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Point 1</a:t>
            </a:r>
            <a:endParaRPr lang="en-US" sz="1300" dirty="0"/>
          </a:p>
        </p:txBody>
      </p:sp>
      <p:sp>
        <p:nvSpPr>
          <p:cNvPr id="13" name="Text"/>
          <p:cNvSpPr/>
          <p:nvPr/>
        </p:nvSpPr>
        <p:spPr>
          <a:xfrm>
            <a:off x="2377440" y="16916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iyun
Birinchi baholash</a:t>
            </a:r>
            <a:endParaRPr lang="en-US" sz="1050" dirty="0"/>
          </a:p>
        </p:txBody>
      </p:sp>
      <p:sp>
        <p:nvSpPr>
          <p:cNvPr id="14" name="Shape"/>
          <p:cNvSpPr/>
          <p:nvPr/>
        </p:nvSpPr>
        <p:spPr>
          <a:xfrm>
            <a:off x="4297680" y="1965960"/>
            <a:ext cx="137160" cy="36576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5" name="Text"/>
          <p:cNvSpPr/>
          <p:nvPr/>
        </p:nvSpPr>
        <p:spPr>
          <a:xfrm>
            <a:off x="4279392" y="1828800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600" dirty="0"/>
          </a:p>
        </p:txBody>
      </p:sp>
      <p:sp>
        <p:nvSpPr>
          <p:cNvPr id="16" name="Shape"/>
          <p:cNvSpPr/>
          <p:nvPr/>
        </p:nvSpPr>
        <p:spPr>
          <a:xfrm>
            <a:off x="4434840" y="804672"/>
            <a:ext cx="1920240" cy="2468880"/>
          </a:xfrm>
          <a:prstGeom prst="rect">
            <a:avLst/>
          </a:prstGeom>
          <a:solidFill>
            <a:srgbClr val="1A203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7" name="Shape"/>
          <p:cNvSpPr/>
          <p:nvPr/>
        </p:nvSpPr>
        <p:spPr>
          <a:xfrm>
            <a:off x="4434840" y="804672"/>
            <a:ext cx="1920240" cy="5486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8" name="Text"/>
          <p:cNvSpPr/>
          <p:nvPr/>
        </p:nvSpPr>
        <p:spPr>
          <a:xfrm>
            <a:off x="4434840" y="9601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Point 2</a:t>
            </a:r>
            <a:endParaRPr lang="en-US" sz="1300" dirty="0"/>
          </a:p>
        </p:txBody>
      </p:sp>
      <p:sp>
        <p:nvSpPr>
          <p:cNvPr id="19" name="Text"/>
          <p:cNvSpPr/>
          <p:nvPr/>
        </p:nvSpPr>
        <p:spPr>
          <a:xfrm>
            <a:off x="4434840" y="16916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iyun
Ikkinchi baholash</a:t>
            </a:r>
            <a:endParaRPr lang="en-US" sz="1050" dirty="0"/>
          </a:p>
        </p:txBody>
      </p:sp>
      <p:sp>
        <p:nvSpPr>
          <p:cNvPr id="20" name="Shape"/>
          <p:cNvSpPr/>
          <p:nvPr/>
        </p:nvSpPr>
        <p:spPr>
          <a:xfrm>
            <a:off x="6355079" y="1965960"/>
            <a:ext cx="137160" cy="36576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1" name="Text"/>
          <p:cNvSpPr/>
          <p:nvPr/>
        </p:nvSpPr>
        <p:spPr>
          <a:xfrm>
            <a:off x="6336792" y="1828800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600" dirty="0"/>
          </a:p>
        </p:txBody>
      </p:sp>
      <p:sp>
        <p:nvSpPr>
          <p:cNvPr id="22" name="Shape"/>
          <p:cNvSpPr/>
          <p:nvPr/>
        </p:nvSpPr>
        <p:spPr>
          <a:xfrm>
            <a:off x="6492240" y="804672"/>
            <a:ext cx="1920240" cy="2468880"/>
          </a:xfrm>
          <a:prstGeom prst="rect">
            <a:avLst/>
          </a:prstGeom>
          <a:solidFill>
            <a:srgbClr val="1A0A0A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3" name="Shape"/>
          <p:cNvSpPr/>
          <p:nvPr/>
        </p:nvSpPr>
        <p:spPr>
          <a:xfrm>
            <a:off x="6492240" y="804672"/>
            <a:ext cx="1920240" cy="5486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4" name="Text"/>
          <p:cNvSpPr/>
          <p:nvPr/>
        </p:nvSpPr>
        <p:spPr>
          <a:xfrm>
            <a:off x="6492240" y="9601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Top-20 &amp;
4 GʼOLIB</a:t>
            </a:r>
            <a:endParaRPr lang="en-US" sz="1300" dirty="0"/>
          </a:p>
        </p:txBody>
      </p:sp>
      <p:sp>
        <p:nvSpPr>
          <p:cNvPr id="25" name="Text"/>
          <p:cNvSpPr/>
          <p:nvPr/>
        </p:nvSpPr>
        <p:spPr>
          <a:xfrm>
            <a:off x="6492240" y="16916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Finalchilar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Gʼoliblar</a:t>
            </a:r>
            <a:endParaRPr lang="en-US" sz="1050" dirty="0"/>
          </a:p>
        </p:txBody>
      </p:sp>
      <p:sp>
        <p:nvSpPr>
          <p:cNvPr id="26" name="Shape"/>
          <p:cNvSpPr/>
          <p:nvPr/>
        </p:nvSpPr>
        <p:spPr>
          <a:xfrm>
            <a:off x="320040" y="3520440"/>
            <a:ext cx="8503920" cy="777240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7" name="Text"/>
          <p:cNvSpPr/>
          <p:nvPr/>
        </p:nvSpPr>
        <p:spPr>
          <a:xfrm>
            <a:off x="502920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8" name="Text"/>
          <p:cNvSpPr/>
          <p:nvPr/>
        </p:nvSpPr>
        <p:spPr>
          <a:xfrm>
            <a:off x="320040" y="384048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Yakuniy reyting = </a:t>
            </a:r>
            <a:r>
              <a:rPr lang="en-US" sz="16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 × Check Point 1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r>
              <a:rPr lang="en-US" sz="18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 × Check Point 2</a:t>
            </a:r>
            <a:endParaRPr lang="en-US" sz="1600" dirty="0"/>
          </a:p>
        </p:txBody>
      </p:sp>
      <p:sp>
        <p:nvSpPr>
          <p:cNvPr id="29" name="Text"/>
          <p:cNvSpPr/>
          <p:nvPr/>
        </p:nvSpPr>
        <p:spPr>
          <a:xfrm>
            <a:off x="320040" y="42519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Ikkinchi bosqich natijalari muhimroq, chunki u jamoaning o‘sishini ko‘rsatadi.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E5534B">
              <a:alpha val="30000"/>
            </a:srgbClr>
          </a:solidFill>
          <a:ln w="12700">
            <a:solidFill>
              <a:srgbClr val="E5534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8412480" y="1371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Point Mexanikasi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512064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54864" cy="10972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601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91440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Texnik Mentor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126187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Yechimning texnik jihati va kod tayyorligini baholaydi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0040" y="2057400"/>
            <a:ext cx="512064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1" name="Shape 8"/>
          <p:cNvSpPr/>
          <p:nvPr/>
        </p:nvSpPr>
        <p:spPr>
          <a:xfrm>
            <a:off x="320040" y="2057400"/>
            <a:ext cx="54864" cy="10972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1945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14400" y="214884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 Mentor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914400" y="249631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 modeli va bozor potentsialini baholaydi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20040" y="3291840"/>
            <a:ext cx="512064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6" name="Shape 12"/>
          <p:cNvSpPr/>
          <p:nvPr/>
        </p:nvSpPr>
        <p:spPr>
          <a:xfrm>
            <a:off x="320040" y="3291840"/>
            <a:ext cx="54864" cy="10972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42900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4400" y="338328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 Bo'yicha Mentor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914400" y="373075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Yo'nalishga moslik va amaliy qo'llanilishni baholaydi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760720" y="822960"/>
            <a:ext cx="3063240" cy="3749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96012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09360" y="93268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Vaqt Cheklovi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943600" y="1280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mentor bilan </a:t>
            </a:r>
            <a:r>
              <a:rPr lang="en-US" sz="11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sessiya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daqiqa davom etadi.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852160" y="1801368"/>
            <a:ext cx="2788920" cy="182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5" name="Text 19"/>
          <p:cNvSpPr/>
          <p:nvPr/>
        </p:nvSpPr>
        <p:spPr>
          <a:xfrm>
            <a:off x="6309360" y="190195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Umumiy Vaqt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943600" y="2240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jamoa uchun Check Point </a:t>
            </a:r>
            <a:r>
              <a:rPr lang="en-US" sz="11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jami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30 daqiqa.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5760720" y="2999232"/>
            <a:ext cx="3063240" cy="1389888"/>
          </a:xfrm>
          <a:prstGeom prst="rect">
            <a:avLst/>
          </a:prstGeom>
          <a:solidFill>
            <a:srgbClr val="150A0A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8" name="Shape 22"/>
          <p:cNvSpPr/>
          <p:nvPr/>
        </p:nvSpPr>
        <p:spPr>
          <a:xfrm>
            <a:off x="5760720" y="2999232"/>
            <a:ext cx="3063240" cy="36576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9" name="Text 23"/>
          <p:cNvSpPr/>
          <p:nvPr/>
        </p:nvSpPr>
        <p:spPr>
          <a:xfrm>
            <a:off x="5870448" y="309067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DIQQAT: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870448" y="338328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har bir murabbiyga alohida boradi.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Uchta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mentor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vaqtning o'zida jamoani tinglamaydi.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E5534B">
              <a:alpha val="30000"/>
            </a:srgbClr>
          </a:solidFill>
          <a:ln w="12700">
            <a:solidFill>
              <a:srgbClr val="E5534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8412480" y="1371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Baholash Mezonlari (1-10 ball)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2697480" cy="3977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269748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7" name="Shape 5"/>
          <p:cNvSpPr/>
          <p:nvPr/>
        </p:nvSpPr>
        <p:spPr>
          <a:xfrm>
            <a:off x="429768" y="868680"/>
            <a:ext cx="347472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Text 6"/>
          <p:cNvSpPr/>
          <p:nvPr/>
        </p:nvSpPr>
        <p:spPr>
          <a:xfrm>
            <a:off x="429768" y="868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0392" y="88696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Texnik Mentor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" y="1298448"/>
            <a:ext cx="2487168" cy="429768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1" name="Text 9"/>
          <p:cNvSpPr/>
          <p:nvPr/>
        </p:nvSpPr>
        <p:spPr>
          <a:xfrm>
            <a:off x="502920" y="1335024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– Texnik amalga oshirilish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" y="1801368"/>
            <a:ext cx="2487168" cy="429768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3" name="Text 11"/>
          <p:cNvSpPr/>
          <p:nvPr/>
        </p:nvSpPr>
        <p:spPr>
          <a:xfrm>
            <a:off x="502920" y="1837944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– Kod tayyorligi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9768" y="2304288"/>
            <a:ext cx="2487168" cy="429768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5" name="Text 13"/>
          <p:cNvSpPr/>
          <p:nvPr/>
        </p:nvSpPr>
        <p:spPr>
          <a:xfrm>
            <a:off x="502920" y="2340864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– Yechimning innovatsionligi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9768" y="2807208"/>
            <a:ext cx="2487168" cy="429768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7" name="Text 15"/>
          <p:cNvSpPr/>
          <p:nvPr/>
        </p:nvSpPr>
        <p:spPr>
          <a:xfrm>
            <a:off x="502920" y="2843784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– Jamoa bilim darajasi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9768" y="3310128"/>
            <a:ext cx="2487168" cy="429768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9" name="Text 17"/>
          <p:cNvSpPr/>
          <p:nvPr/>
        </p:nvSpPr>
        <p:spPr>
          <a:xfrm>
            <a:off x="502920" y="3346704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 – Texnologiyalar to'plami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4498848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T_Bali = (T1+T2+T3+T4+T5) / 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46120" y="749808"/>
            <a:ext cx="2697480" cy="3977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2" name="Shape 20"/>
          <p:cNvSpPr/>
          <p:nvPr/>
        </p:nvSpPr>
        <p:spPr>
          <a:xfrm>
            <a:off x="3246120" y="749808"/>
            <a:ext cx="269748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3" name="Shape 21"/>
          <p:cNvSpPr/>
          <p:nvPr/>
        </p:nvSpPr>
        <p:spPr>
          <a:xfrm>
            <a:off x="3355848" y="868680"/>
            <a:ext cx="347472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4" name="Text 22"/>
          <p:cNvSpPr/>
          <p:nvPr/>
        </p:nvSpPr>
        <p:spPr>
          <a:xfrm>
            <a:off x="3355848" y="868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76472" y="88696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 Mentor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355848" y="1298448"/>
            <a:ext cx="2487168" cy="429768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7" name="Text 25"/>
          <p:cNvSpPr/>
          <p:nvPr/>
        </p:nvSpPr>
        <p:spPr>
          <a:xfrm>
            <a:off x="3429000" y="1335024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– G'oya va muammoning dolzarbligi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55848" y="1801368"/>
            <a:ext cx="2487168" cy="429768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9" name="Text 27"/>
          <p:cNvSpPr/>
          <p:nvPr/>
        </p:nvSpPr>
        <p:spPr>
          <a:xfrm>
            <a:off x="3429000" y="1837944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– Biznes modeli / monetizatsiya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55848" y="2304288"/>
            <a:ext cx="2487168" cy="429768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1" name="Text 29"/>
          <p:cNvSpPr/>
          <p:nvPr/>
        </p:nvSpPr>
        <p:spPr>
          <a:xfrm>
            <a:off x="3429000" y="2340864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– Raqobatdagi ustunlik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355848" y="2807208"/>
            <a:ext cx="2487168" cy="429768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3" name="Text 31"/>
          <p:cNvSpPr/>
          <p:nvPr/>
        </p:nvSpPr>
        <p:spPr>
          <a:xfrm>
            <a:off x="3429000" y="2843784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– Moliyaviy barqarorlik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355848" y="3310128"/>
            <a:ext cx="2487168" cy="429768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5" name="Text 33"/>
          <p:cNvSpPr/>
          <p:nvPr/>
        </p:nvSpPr>
        <p:spPr>
          <a:xfrm>
            <a:off x="3429000" y="3346704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 – O'sish imkoniyati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337560" y="4498848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B_Bali = (B1+B2+B3+B4+B5) / 5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72200" y="749808"/>
            <a:ext cx="2697480" cy="3977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8" name="Shape 36"/>
          <p:cNvSpPr/>
          <p:nvPr/>
        </p:nvSpPr>
        <p:spPr>
          <a:xfrm>
            <a:off x="6172200" y="749808"/>
            <a:ext cx="269748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9" name="Shape 37"/>
          <p:cNvSpPr/>
          <p:nvPr/>
        </p:nvSpPr>
        <p:spPr>
          <a:xfrm>
            <a:off x="6281928" y="868680"/>
            <a:ext cx="347472" cy="34747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0" name="Text 38"/>
          <p:cNvSpPr/>
          <p:nvPr/>
        </p:nvSpPr>
        <p:spPr>
          <a:xfrm>
            <a:off x="6281928" y="868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702552" y="88696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 Mentori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281928" y="1298448"/>
            <a:ext cx="2487168" cy="429768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3" name="Text 41"/>
          <p:cNvSpPr/>
          <p:nvPr/>
        </p:nvSpPr>
        <p:spPr>
          <a:xfrm>
            <a:off x="6355080" y="1335024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– Muammoning dolzarbligi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81928" y="1801368"/>
            <a:ext cx="2487168" cy="429768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5" name="Text 43"/>
          <p:cNvSpPr/>
          <p:nvPr/>
        </p:nvSpPr>
        <p:spPr>
          <a:xfrm>
            <a:off x="6355080" y="1837944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– Sohani tushunish chuqurligi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281928" y="2304288"/>
            <a:ext cx="2487168" cy="429768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7" name="Text 45"/>
          <p:cNvSpPr/>
          <p:nvPr/>
        </p:nvSpPr>
        <p:spPr>
          <a:xfrm>
            <a:off x="6355080" y="2340864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– Amaliy qo'llanilishi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281928" y="2807208"/>
            <a:ext cx="2487168" cy="429768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9" name="Text 47"/>
          <p:cNvSpPr/>
          <p:nvPr/>
        </p:nvSpPr>
        <p:spPr>
          <a:xfrm>
            <a:off x="6355080" y="2843784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– Qonunchilikka muvofiqlik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281928" y="3310128"/>
            <a:ext cx="2487168" cy="429768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51" name="Text 49"/>
          <p:cNvSpPr/>
          <p:nvPr/>
        </p:nvSpPr>
        <p:spPr>
          <a:xfrm>
            <a:off x="6355080" y="3346704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– Ta'sir ko'lami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263640" y="4498848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S_Bali = (S1+S2+S3+S4+S5) / 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E5534B">
              <a:alpha val="30000"/>
            </a:srgbClr>
          </a:solidFill>
          <a:ln w="12700">
            <a:solidFill>
              <a:srgbClr val="E5534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8412480" y="1371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Yakuniy Reyting Formulasi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Reyting = </a:t>
            </a:r>
            <a:r>
              <a:rPr lang="en-US" sz="2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 × CP1</a:t>
            </a: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r>
              <a:rPr lang="en-US" sz="28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 × CP2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2606040" cy="2240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2606040" cy="5486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Text 8"/>
          <p:cNvSpPr/>
          <p:nvPr/>
        </p:nvSpPr>
        <p:spPr>
          <a:xfrm>
            <a:off x="566928" y="2423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423160" y="2450592"/>
            <a:ext cx="502920" cy="27432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2" name="Text 10"/>
          <p:cNvSpPr/>
          <p:nvPr/>
        </p:nvSpPr>
        <p:spPr>
          <a:xfrm>
            <a:off x="2423160" y="245059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2852928"/>
            <a:ext cx="239572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Kamroq og'irlik. Tasodifiy omillar ta'sirini kamaytirish va boshlang'ich holatni baholash uchun.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2286000"/>
            <a:ext cx="2606040" cy="2240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5" name="Shape 13"/>
          <p:cNvSpPr/>
          <p:nvPr/>
        </p:nvSpPr>
        <p:spPr>
          <a:xfrm>
            <a:off x="3246120" y="2286000"/>
            <a:ext cx="2606040" cy="5486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6" name="Text 14"/>
          <p:cNvSpPr/>
          <p:nvPr/>
        </p:nvSpPr>
        <p:spPr>
          <a:xfrm>
            <a:off x="3355848" y="2423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12080" y="2450592"/>
            <a:ext cx="502920" cy="2743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8" name="Text 16"/>
          <p:cNvSpPr/>
          <p:nvPr/>
        </p:nvSpPr>
        <p:spPr>
          <a:xfrm>
            <a:off x="5212080" y="245059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55848" y="2852928"/>
            <a:ext cx="239572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Yuqori og'irlik. Jamoaning rivojlanishini, o'sishini va mentorlar maslahatini qanday qo'llaganini aks ettiradi.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2286000"/>
            <a:ext cx="2606040" cy="2240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1" name="Shape 19"/>
          <p:cNvSpPr/>
          <p:nvPr/>
        </p:nvSpPr>
        <p:spPr>
          <a:xfrm>
            <a:off x="6035040" y="2286000"/>
            <a:ext cx="260604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2" name="Text 20"/>
          <p:cNvSpPr/>
          <p:nvPr/>
        </p:nvSpPr>
        <p:spPr>
          <a:xfrm>
            <a:off x="6144768" y="2423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44768" y="2852928"/>
            <a:ext cx="239572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O'sishni ko'rsatgan jamoalar ustunlikka ega bo'ladi. Xakaton – bu jarayon va rivojlanishdir.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617720"/>
            <a:ext cx="8229600" cy="292608"/>
          </a:xfrm>
          <a:prstGeom prst="rect">
            <a:avLst/>
          </a:prstGeom>
          <a:solidFill>
            <a:srgbClr val="0D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5" name="Text 23"/>
          <p:cNvSpPr/>
          <p:nvPr/>
        </p:nvSpPr>
        <p:spPr>
          <a:xfrm>
            <a:off x="457200" y="463600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CP_Bali = (Texnik + Biznes + Soha) / 3   |   Natija: 1 dan 10 gacha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4892040"/>
            <a:ext cx="9144000" cy="182880"/>
          </a:xfrm>
          <a:prstGeom prst="rect">
            <a:avLst/>
          </a:prstGeom>
          <a:solidFill>
            <a:srgbClr val="E5534B">
              <a:alpha val="30000"/>
            </a:srgbClr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"/>
          <p:cNvSpPr/>
          <p:nvPr/>
        </p:nvSpPr>
        <p:spPr>
          <a:xfrm>
            <a:off x="45720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Hisoblash Namunasi: "AlfaTex"</a:t>
            </a:r>
            <a:endParaRPr lang="en-US" sz="2600" dirty="0"/>
          </a:p>
        </p:txBody>
      </p:sp>
      <p:sp>
        <p:nvSpPr>
          <p:cNvPr id="4" name="Text"/>
          <p:cNvSpPr/>
          <p:nvPr/>
        </p:nvSpPr>
        <p:spPr>
          <a:xfrm>
            <a:off x="8229600" y="1371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400" dirty="0"/>
          </a:p>
        </p:txBody>
      </p:sp>
      <p:sp>
        <p:nvSpPr>
          <p:cNvPr id="5" name="Shape"/>
          <p:cNvSpPr/>
          <p:nvPr/>
        </p:nvSpPr>
        <p:spPr>
          <a:xfrm>
            <a:off x="320040" y="777240"/>
            <a:ext cx="3749039" cy="2834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"/>
          <p:cNvSpPr/>
          <p:nvPr/>
        </p:nvSpPr>
        <p:spPr>
          <a:xfrm>
            <a:off x="457200" y="868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Point 1 (4-iyun)</a:t>
            </a:r>
            <a:endParaRPr lang="en-US" sz="1200" dirty="0"/>
          </a:p>
        </p:txBody>
      </p:sp>
      <p:sp>
        <p:nvSpPr>
          <p:cNvPr id="7" name="Text"/>
          <p:cNvSpPr/>
          <p:nvPr/>
        </p:nvSpPr>
        <p:spPr>
          <a:xfrm>
            <a:off x="457200" y="1325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Texnik:</a:t>
            </a:r>
            <a:endParaRPr lang="en-US" sz="1200" dirty="0"/>
          </a:p>
        </p:txBody>
      </p:sp>
      <p:sp>
        <p:nvSpPr>
          <p:cNvPr id="8" name="Text"/>
          <p:cNvSpPr/>
          <p:nvPr/>
        </p:nvSpPr>
        <p:spPr>
          <a:xfrm>
            <a:off x="2743200" y="13258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</a:t>
            </a:r>
            <a:endParaRPr lang="en-US" sz="1200" dirty="0"/>
          </a:p>
        </p:txBody>
      </p:sp>
      <p:sp>
        <p:nvSpPr>
          <p:cNvPr id="9" name="Text"/>
          <p:cNvSpPr/>
          <p:nvPr/>
        </p:nvSpPr>
        <p:spPr>
          <a:xfrm>
            <a:off x="457200" y="17099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Biznes:</a:t>
            </a:r>
            <a:endParaRPr lang="en-US" sz="1200" dirty="0"/>
          </a:p>
        </p:txBody>
      </p:sp>
      <p:sp>
        <p:nvSpPr>
          <p:cNvPr id="10" name="Text"/>
          <p:cNvSpPr/>
          <p:nvPr/>
        </p:nvSpPr>
        <p:spPr>
          <a:xfrm>
            <a:off x="2743200" y="170992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</a:t>
            </a:r>
            <a:endParaRPr lang="en-US" sz="1200" dirty="0"/>
          </a:p>
        </p:txBody>
      </p:sp>
      <p:sp>
        <p:nvSpPr>
          <p:cNvPr id="11" name="Text"/>
          <p:cNvSpPr/>
          <p:nvPr/>
        </p:nvSpPr>
        <p:spPr>
          <a:xfrm>
            <a:off x="457200" y="209397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Soha:</a:t>
            </a:r>
            <a:endParaRPr lang="en-US" sz="1200" dirty="0"/>
          </a:p>
        </p:txBody>
      </p:sp>
      <p:sp>
        <p:nvSpPr>
          <p:cNvPr id="12" name="Text"/>
          <p:cNvSpPr/>
          <p:nvPr/>
        </p:nvSpPr>
        <p:spPr>
          <a:xfrm>
            <a:off x="2743200" y="209397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</a:t>
            </a:r>
            <a:endParaRPr lang="en-US" sz="1200" dirty="0"/>
          </a:p>
        </p:txBody>
      </p:sp>
      <p:sp>
        <p:nvSpPr>
          <p:cNvPr id="13" name="Shape"/>
          <p:cNvSpPr/>
          <p:nvPr/>
        </p:nvSpPr>
        <p:spPr>
          <a:xfrm>
            <a:off x="457200" y="2560320"/>
            <a:ext cx="3474720" cy="18288"/>
          </a:xfrm>
          <a:prstGeom prst="rect">
            <a:avLst/>
          </a:prstGeom>
          <a:solidFill>
            <a:srgbClr val="2D3A50"/>
          </a:solidFill>
          <a:ln w="12700">
            <a:solidFill>
              <a:srgbClr val="2D3A50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4" name="Text"/>
          <p:cNvSpPr/>
          <p:nvPr/>
        </p:nvSpPr>
        <p:spPr>
          <a:xfrm>
            <a:off x="457200" y="26334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O‘rtacha Ball:</a:t>
            </a:r>
            <a:endParaRPr lang="en-US" sz="1300" dirty="0"/>
          </a:p>
        </p:txBody>
      </p:sp>
      <p:sp>
        <p:nvSpPr>
          <p:cNvPr id="15" name="Text"/>
          <p:cNvSpPr/>
          <p:nvPr/>
        </p:nvSpPr>
        <p:spPr>
          <a:xfrm>
            <a:off x="457200" y="26334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7.67</a:t>
            </a:r>
            <a:endParaRPr lang="en-US" sz="2800" dirty="0"/>
          </a:p>
        </p:txBody>
      </p:sp>
      <p:sp>
        <p:nvSpPr>
          <p:cNvPr id="16" name="Text"/>
          <p:cNvSpPr/>
          <p:nvPr/>
        </p:nvSpPr>
        <p:spPr>
          <a:xfrm>
            <a:off x="416052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"/>
          <p:cNvSpPr/>
          <p:nvPr/>
        </p:nvSpPr>
        <p:spPr>
          <a:xfrm>
            <a:off x="4709160" y="777240"/>
            <a:ext cx="3749039" cy="2834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8" name="Text"/>
          <p:cNvSpPr/>
          <p:nvPr/>
        </p:nvSpPr>
        <p:spPr>
          <a:xfrm>
            <a:off x="4846320" y="868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Point 2 (5-iyun)</a:t>
            </a:r>
            <a:endParaRPr lang="en-US" sz="1200" dirty="0"/>
          </a:p>
        </p:txBody>
      </p:sp>
      <p:sp>
        <p:nvSpPr>
          <p:cNvPr id="19" name="Text"/>
          <p:cNvSpPr/>
          <p:nvPr/>
        </p:nvSpPr>
        <p:spPr>
          <a:xfrm>
            <a:off x="4846320" y="1325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Texnik:</a:t>
            </a:r>
            <a:endParaRPr lang="en-US" sz="1200" dirty="0"/>
          </a:p>
        </p:txBody>
      </p:sp>
      <p:sp>
        <p:nvSpPr>
          <p:cNvPr id="20" name="Text"/>
          <p:cNvSpPr/>
          <p:nvPr/>
        </p:nvSpPr>
        <p:spPr>
          <a:xfrm>
            <a:off x="7132320" y="13258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</a:t>
            </a:r>
            <a:endParaRPr lang="en-US" sz="1200" dirty="0"/>
          </a:p>
        </p:txBody>
      </p:sp>
      <p:sp>
        <p:nvSpPr>
          <p:cNvPr id="21" name="Text"/>
          <p:cNvSpPr/>
          <p:nvPr/>
        </p:nvSpPr>
        <p:spPr>
          <a:xfrm>
            <a:off x="4846320" y="17099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Biznes:</a:t>
            </a:r>
            <a:endParaRPr lang="en-US" sz="1200" dirty="0"/>
          </a:p>
        </p:txBody>
      </p:sp>
      <p:sp>
        <p:nvSpPr>
          <p:cNvPr id="22" name="Text"/>
          <p:cNvSpPr/>
          <p:nvPr/>
        </p:nvSpPr>
        <p:spPr>
          <a:xfrm>
            <a:off x="7132320" y="170992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</a:t>
            </a:r>
            <a:endParaRPr lang="en-US" sz="1200" dirty="0"/>
          </a:p>
        </p:txBody>
      </p:sp>
      <p:sp>
        <p:nvSpPr>
          <p:cNvPr id="23" name="Text"/>
          <p:cNvSpPr/>
          <p:nvPr/>
        </p:nvSpPr>
        <p:spPr>
          <a:xfrm>
            <a:off x="4846320" y="209397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Soha:</a:t>
            </a:r>
            <a:endParaRPr lang="en-US" sz="1200" dirty="0"/>
          </a:p>
        </p:txBody>
      </p:sp>
      <p:sp>
        <p:nvSpPr>
          <p:cNvPr id="24" name="Text"/>
          <p:cNvSpPr/>
          <p:nvPr/>
        </p:nvSpPr>
        <p:spPr>
          <a:xfrm>
            <a:off x="7132320" y="209397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</a:t>
            </a:r>
            <a:endParaRPr lang="en-US" sz="1200" dirty="0"/>
          </a:p>
        </p:txBody>
      </p:sp>
      <p:sp>
        <p:nvSpPr>
          <p:cNvPr id="25" name="Shape"/>
          <p:cNvSpPr/>
          <p:nvPr/>
        </p:nvSpPr>
        <p:spPr>
          <a:xfrm>
            <a:off x="4846320" y="2560320"/>
            <a:ext cx="3474720" cy="18288"/>
          </a:xfrm>
          <a:prstGeom prst="rect">
            <a:avLst/>
          </a:prstGeom>
          <a:solidFill>
            <a:srgbClr val="2D3A50"/>
          </a:solidFill>
          <a:ln w="12700">
            <a:solidFill>
              <a:srgbClr val="2D3A50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6" name="Text"/>
          <p:cNvSpPr/>
          <p:nvPr/>
        </p:nvSpPr>
        <p:spPr>
          <a:xfrm>
            <a:off x="4846320" y="26334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O‘rtacha Ball:</a:t>
            </a:r>
            <a:endParaRPr lang="en-US" sz="1300" dirty="0"/>
          </a:p>
        </p:txBody>
      </p:sp>
      <p:sp>
        <p:nvSpPr>
          <p:cNvPr id="27" name="Text"/>
          <p:cNvSpPr/>
          <p:nvPr/>
        </p:nvSpPr>
        <p:spPr>
          <a:xfrm>
            <a:off x="4846320" y="26334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8.47</a:t>
            </a:r>
            <a:endParaRPr lang="en-US" sz="2800" dirty="0"/>
          </a:p>
        </p:txBody>
      </p:sp>
      <p:sp>
        <p:nvSpPr>
          <p:cNvPr id="28" name="Shape"/>
          <p:cNvSpPr/>
          <p:nvPr/>
        </p:nvSpPr>
        <p:spPr>
          <a:xfrm>
            <a:off x="320040" y="3794760"/>
            <a:ext cx="8503920" cy="896112"/>
          </a:xfrm>
          <a:prstGeom prst="rect">
            <a:avLst/>
          </a:prstGeom>
          <a:solidFill>
            <a:srgbClr val="0F1520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9" name="Text"/>
          <p:cNvSpPr/>
          <p:nvPr/>
        </p:nvSpPr>
        <p:spPr>
          <a:xfrm>
            <a:off x="502920" y="3913632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 × 7.67 + 0.6 × 8.47 =</a:t>
            </a:r>
            <a:endParaRPr lang="en-US" sz="1700" dirty="0"/>
          </a:p>
        </p:txBody>
      </p:sp>
      <p:sp>
        <p:nvSpPr>
          <p:cNvPr id="30" name="Text"/>
          <p:cNvSpPr/>
          <p:nvPr/>
        </p:nvSpPr>
        <p:spPr>
          <a:xfrm>
            <a:off x="5943600" y="38130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YAKUNIY REYTING</a:t>
            </a:r>
            <a:endParaRPr lang="en-US" sz="820" dirty="0"/>
          </a:p>
        </p:txBody>
      </p:sp>
      <p:sp>
        <p:nvSpPr>
          <p:cNvPr id="31" name="Text"/>
          <p:cNvSpPr/>
          <p:nvPr/>
        </p:nvSpPr>
        <p:spPr>
          <a:xfrm>
            <a:off x="5669280" y="4041648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8.15</a:t>
            </a:r>
            <a:endParaRPr 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"/>
          <p:cNvSpPr/>
          <p:nvPr/>
        </p:nvSpPr>
        <p:spPr>
          <a:xfrm>
            <a:off x="0" y="4892040"/>
            <a:ext cx="9144000" cy="182880"/>
          </a:xfrm>
          <a:prstGeom prst="rect">
            <a:avLst/>
          </a:prstGeom>
          <a:solidFill>
            <a:srgbClr val="E5534B">
              <a:alpha val="30000"/>
            </a:srgbClr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"/>
          <p:cNvSpPr/>
          <p:nvPr/>
        </p:nvSpPr>
        <p:spPr>
          <a:xfrm>
            <a:off x="8229600" y="1371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</a:rPr>
              <a:t>10</a:t>
            </a:r>
            <a:endParaRPr lang="en-US" sz="1400" dirty="0"/>
          </a:p>
        </p:txBody>
      </p:sp>
      <p:sp>
        <p:nvSpPr>
          <p:cNvPr id="4" name="T"/>
          <p:cNvSpPr/>
          <p:nvPr/>
        </p:nvSpPr>
        <p:spPr>
          <a:xfrm>
            <a:off x="36576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</a:rPr>
              <a:t>Xakaton Jadvali (3 – 6 Iyun, 2026)</a:t>
            </a:r>
            <a:endParaRPr lang="en-US" sz="2600" dirty="0"/>
          </a:p>
        </p:txBody>
      </p:sp>
      <p:sp>
        <p:nvSpPr>
          <p:cNvPr id="5" name="S"/>
          <p:cNvSpPr/>
          <p:nvPr/>
        </p:nvSpPr>
        <p:spPr>
          <a:xfrm>
            <a:off x="182880" y="749808"/>
            <a:ext cx="2084831" cy="4206240"/>
          </a:xfrm>
          <a:prstGeom prst="rect">
            <a:avLst/>
          </a:prstGeom>
          <a:solidFill>
            <a:srgbClr val="2D3A50"/>
          </a:solidFill>
          <a:ln w="12700">
            <a:solidFill>
              <a:srgbClr val="2D3A50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S"/>
          <p:cNvSpPr/>
          <p:nvPr/>
        </p:nvSpPr>
        <p:spPr>
          <a:xfrm>
            <a:off x="182880" y="749808"/>
            <a:ext cx="2084831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7" name="T"/>
          <p:cNvSpPr/>
          <p:nvPr/>
        </p:nvSpPr>
        <p:spPr>
          <a:xfrm>
            <a:off x="256032" y="841247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</a:rPr>
              <a:t>1-kun</a:t>
            </a:r>
            <a:endParaRPr lang="en-US" sz="900" dirty="0"/>
          </a:p>
        </p:txBody>
      </p:sp>
      <p:sp>
        <p:nvSpPr>
          <p:cNvPr id="8" name="T"/>
          <p:cNvSpPr/>
          <p:nvPr/>
        </p:nvSpPr>
        <p:spPr>
          <a:xfrm>
            <a:off x="256032" y="1097280"/>
            <a:ext cx="1938527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</a:rPr>
              <a:t>3 Iyun</a:t>
            </a:r>
            <a:endParaRPr lang="en-US" sz="1700" dirty="0"/>
          </a:p>
        </p:txBody>
      </p:sp>
      <p:sp>
        <p:nvSpPr>
          <p:cNvPr id="9" name="T"/>
          <p:cNvSpPr/>
          <p:nvPr/>
        </p:nvSpPr>
        <p:spPr>
          <a:xfrm>
            <a:off x="256032" y="1554480"/>
            <a:ext cx="1938527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</a:rPr>
              <a:t>Ochilish va Spikerlari</a:t>
            </a:r>
            <a:endParaRPr lang="en-US" sz="900" dirty="0"/>
          </a:p>
        </p:txBody>
      </p:sp>
      <p:sp>
        <p:nvSpPr>
          <p:cNvPr id="10" name="T"/>
          <p:cNvSpPr/>
          <p:nvPr/>
        </p:nvSpPr>
        <p:spPr>
          <a:xfrm>
            <a:off x="256032" y="1865376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E5534B"/>
                </a:solidFill>
                <a:latin typeface="Calibri" pitchFamily="34" charset="0"/>
              </a:rPr>
              <a:t>10:00–11:00</a:t>
            </a:r>
            <a:endParaRPr lang="en-US" sz="820" dirty="0"/>
          </a:p>
        </p:txBody>
      </p:sp>
      <p:sp>
        <p:nvSpPr>
          <p:cNvPr id="11" name="T"/>
          <p:cNvSpPr/>
          <p:nvPr/>
        </p:nvSpPr>
        <p:spPr>
          <a:xfrm>
            <a:off x="256032" y="2048256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60" dirty="0">
                <a:solidFill>
                  <a:srgbClr val="FFFFFF"/>
                </a:solidFill>
                <a:latin typeface="Calibri" pitchFamily="34" charset="0"/>
              </a:rPr>
              <a:t>Ro‘yxatdan o‘tish</a:t>
            </a:r>
            <a:endParaRPr lang="en-US" sz="860" dirty="0"/>
          </a:p>
        </p:txBody>
      </p:sp>
      <p:sp>
        <p:nvSpPr>
          <p:cNvPr id="12" name="T"/>
          <p:cNvSpPr/>
          <p:nvPr/>
        </p:nvSpPr>
        <p:spPr>
          <a:xfrm>
            <a:off x="256032" y="2267712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E5534B"/>
                </a:solidFill>
                <a:latin typeface="Calibri" pitchFamily="34" charset="0"/>
              </a:rPr>
              <a:t>11:00–11:45</a:t>
            </a:r>
            <a:endParaRPr lang="en-US" sz="820" dirty="0"/>
          </a:p>
        </p:txBody>
      </p:sp>
      <p:sp>
        <p:nvSpPr>
          <p:cNvPr id="13" name="T"/>
          <p:cNvSpPr/>
          <p:nvPr/>
        </p:nvSpPr>
        <p:spPr>
          <a:xfrm>
            <a:off x="256032" y="2450592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60" dirty="0">
                <a:solidFill>
                  <a:srgbClr val="FFFFFF"/>
                </a:solidFill>
                <a:latin typeface="Calibri" pitchFamily="34" charset="0"/>
              </a:rPr>
              <a:t>Rasmiy ochilish va mexanika</a:t>
            </a:r>
            <a:endParaRPr lang="en-US" sz="860" dirty="0"/>
          </a:p>
        </p:txBody>
      </p:sp>
      <p:sp>
        <p:nvSpPr>
          <p:cNvPr id="14" name="T"/>
          <p:cNvSpPr/>
          <p:nvPr/>
        </p:nvSpPr>
        <p:spPr>
          <a:xfrm>
            <a:off x="256032" y="2670048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E5534B"/>
                </a:solidFill>
                <a:latin typeface="Calibri" pitchFamily="34" charset="0"/>
              </a:rPr>
              <a:t>11:45–13:00</a:t>
            </a:r>
            <a:endParaRPr lang="en-US" sz="820" dirty="0"/>
          </a:p>
        </p:txBody>
      </p:sp>
      <p:sp>
        <p:nvSpPr>
          <p:cNvPr id="15" name="T"/>
          <p:cNvSpPr/>
          <p:nvPr/>
        </p:nvSpPr>
        <p:spPr>
          <a:xfrm>
            <a:off x="256032" y="2852928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60" dirty="0">
                <a:solidFill>
                  <a:srgbClr val="FFFFFF"/>
                </a:solidFill>
                <a:latin typeface="Calibri" pitchFamily="34" charset="0"/>
              </a:rPr>
              <a:t>Vorkshop 1: Biznes </a:t>
            </a:r>
            <a:r>
              <a:rPr lang="en-US" sz="860" dirty="0" err="1">
                <a:solidFill>
                  <a:srgbClr val="FFFFFF"/>
                </a:solidFill>
                <a:latin typeface="Calibri" pitchFamily="34" charset="0"/>
              </a:rPr>
              <a:t>jihatlari</a:t>
            </a:r>
            <a:r>
              <a:rPr lang="en-US" sz="860" dirty="0">
                <a:solidFill>
                  <a:srgbClr val="FFFFFF"/>
                </a:solidFill>
                <a:latin typeface="Calibri" pitchFamily="34" charset="0"/>
              </a:rPr>
              <a:t> </a:t>
            </a:r>
            <a:endParaRPr lang="en-US" sz="860" dirty="0"/>
          </a:p>
        </p:txBody>
      </p:sp>
      <p:sp>
        <p:nvSpPr>
          <p:cNvPr id="16" name="T"/>
          <p:cNvSpPr/>
          <p:nvPr/>
        </p:nvSpPr>
        <p:spPr>
          <a:xfrm>
            <a:off x="256032" y="3072384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E5534B"/>
                </a:solidFill>
                <a:latin typeface="Calibri" pitchFamily="34" charset="0"/>
              </a:rPr>
              <a:t>13:00–14:00</a:t>
            </a:r>
            <a:endParaRPr lang="en-US" sz="820" dirty="0"/>
          </a:p>
        </p:txBody>
      </p:sp>
      <p:sp>
        <p:nvSpPr>
          <p:cNvPr id="17" name="T"/>
          <p:cNvSpPr/>
          <p:nvPr/>
        </p:nvSpPr>
        <p:spPr>
          <a:xfrm>
            <a:off x="256032" y="3255264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60" dirty="0">
                <a:solidFill>
                  <a:srgbClr val="FFFFFF"/>
                </a:solidFill>
                <a:latin typeface="Calibri" pitchFamily="34" charset="0"/>
              </a:rPr>
              <a:t>Tushlik</a:t>
            </a:r>
            <a:endParaRPr lang="en-US" sz="860" dirty="0"/>
          </a:p>
        </p:txBody>
      </p:sp>
      <p:sp>
        <p:nvSpPr>
          <p:cNvPr id="18" name="T"/>
          <p:cNvSpPr/>
          <p:nvPr/>
        </p:nvSpPr>
        <p:spPr>
          <a:xfrm>
            <a:off x="256032" y="3419856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60" dirty="0">
                <a:solidFill>
                  <a:srgbClr val="E5534B"/>
                </a:solidFill>
                <a:latin typeface="Calibri" pitchFamily="34" charset="0"/>
              </a:rPr>
              <a:t>14:00–15:00</a:t>
            </a:r>
            <a:endParaRPr lang="en-US" sz="860" dirty="0"/>
          </a:p>
        </p:txBody>
      </p:sp>
      <p:sp>
        <p:nvSpPr>
          <p:cNvPr id="19" name="T"/>
          <p:cNvSpPr/>
          <p:nvPr/>
        </p:nvSpPr>
        <p:spPr>
          <a:xfrm>
            <a:off x="256032" y="3584448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60" dirty="0">
                <a:solidFill>
                  <a:srgbClr val="FFFFFF"/>
                </a:solidFill>
                <a:latin typeface="Calibri" pitchFamily="34" charset="0"/>
              </a:rPr>
              <a:t>Vorkshop 2: AI va </a:t>
            </a:r>
            <a:r>
              <a:rPr lang="en-US" sz="860" dirty="0" err="1">
                <a:solidFill>
                  <a:srgbClr val="FFFFFF"/>
                </a:solidFill>
                <a:latin typeface="Calibri" pitchFamily="34" charset="0"/>
              </a:rPr>
              <a:t>vaybkoding</a:t>
            </a:r>
            <a:r>
              <a:rPr lang="en-US" sz="860" dirty="0">
                <a:solidFill>
                  <a:srgbClr val="FFFFFF"/>
                </a:solidFill>
                <a:latin typeface="Calibri" pitchFamily="34" charset="0"/>
              </a:rPr>
              <a:t> </a:t>
            </a:r>
            <a:endParaRPr lang="en-US" sz="860" dirty="0"/>
          </a:p>
        </p:txBody>
      </p:sp>
      <p:sp>
        <p:nvSpPr>
          <p:cNvPr id="20" name="T"/>
          <p:cNvSpPr/>
          <p:nvPr/>
        </p:nvSpPr>
        <p:spPr>
          <a:xfrm>
            <a:off x="256032" y="3840480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60" dirty="0">
                <a:solidFill>
                  <a:srgbClr val="E5534B"/>
                </a:solidFill>
                <a:latin typeface="Calibri" pitchFamily="34" charset="0"/>
              </a:rPr>
              <a:t>15:00–17:00</a:t>
            </a:r>
            <a:endParaRPr lang="en-US" sz="860" dirty="0"/>
          </a:p>
        </p:txBody>
      </p:sp>
      <p:sp>
        <p:nvSpPr>
          <p:cNvPr id="21" name="T"/>
          <p:cNvSpPr/>
          <p:nvPr/>
        </p:nvSpPr>
        <p:spPr>
          <a:xfrm>
            <a:off x="256032" y="3968496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FFFFFF"/>
                </a:solidFill>
                <a:latin typeface="Calibri" pitchFamily="34" charset="0"/>
              </a:rPr>
              <a:t>Jamoalar taqsimoti va trek tanlash</a:t>
            </a:r>
            <a:endParaRPr lang="en-US" sz="820" dirty="0"/>
          </a:p>
        </p:txBody>
      </p:sp>
      <p:sp>
        <p:nvSpPr>
          <p:cNvPr id="22" name="T"/>
          <p:cNvSpPr/>
          <p:nvPr/>
        </p:nvSpPr>
        <p:spPr>
          <a:xfrm>
            <a:off x="256032" y="4151376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60" dirty="0">
                <a:solidFill>
                  <a:srgbClr val="D1D5DB"/>
                </a:solidFill>
                <a:latin typeface="Calibri" pitchFamily="34" charset="0"/>
              </a:rPr>
              <a:t> </a:t>
            </a:r>
            <a:endParaRPr lang="en-US" sz="860" dirty="0"/>
          </a:p>
        </p:txBody>
      </p:sp>
      <p:sp>
        <p:nvSpPr>
          <p:cNvPr id="23" name="T"/>
          <p:cNvSpPr/>
          <p:nvPr/>
        </p:nvSpPr>
        <p:spPr>
          <a:xfrm>
            <a:off x="256032" y="4370832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E5534B"/>
                </a:solidFill>
                <a:latin typeface="Calibri" pitchFamily="34" charset="0"/>
              </a:rPr>
              <a:t> </a:t>
            </a:r>
            <a:endParaRPr lang="en-US" sz="820" dirty="0"/>
          </a:p>
        </p:txBody>
      </p:sp>
      <p:sp>
        <p:nvSpPr>
          <p:cNvPr id="24" name="T"/>
          <p:cNvSpPr/>
          <p:nvPr/>
        </p:nvSpPr>
        <p:spPr>
          <a:xfrm>
            <a:off x="256032" y="4553712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860" dirty="0"/>
          </a:p>
        </p:txBody>
      </p:sp>
      <p:sp>
        <p:nvSpPr>
          <p:cNvPr id="25" name="S"/>
          <p:cNvSpPr/>
          <p:nvPr/>
        </p:nvSpPr>
        <p:spPr>
          <a:xfrm>
            <a:off x="2313432" y="749808"/>
            <a:ext cx="2084831" cy="4206240"/>
          </a:xfrm>
          <a:prstGeom prst="rect">
            <a:avLst/>
          </a:prstGeom>
          <a:solidFill>
            <a:srgbClr val="2D3A50"/>
          </a:solidFill>
          <a:ln w="12700">
            <a:solidFill>
              <a:srgbClr val="2D3A50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6" name="S"/>
          <p:cNvSpPr/>
          <p:nvPr/>
        </p:nvSpPr>
        <p:spPr>
          <a:xfrm>
            <a:off x="2313432" y="749808"/>
            <a:ext cx="2084831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7" name="T"/>
          <p:cNvSpPr/>
          <p:nvPr/>
        </p:nvSpPr>
        <p:spPr>
          <a:xfrm>
            <a:off x="2386584" y="841247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</a:rPr>
              <a:t>2-kun</a:t>
            </a:r>
            <a:endParaRPr lang="en-US" sz="900" dirty="0"/>
          </a:p>
        </p:txBody>
      </p:sp>
      <p:sp>
        <p:nvSpPr>
          <p:cNvPr id="28" name="T"/>
          <p:cNvSpPr/>
          <p:nvPr/>
        </p:nvSpPr>
        <p:spPr>
          <a:xfrm>
            <a:off x="2386584" y="1097280"/>
            <a:ext cx="1938527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</a:rPr>
              <a:t>4 Iyun</a:t>
            </a:r>
            <a:endParaRPr lang="en-US" sz="1700" dirty="0"/>
          </a:p>
        </p:txBody>
      </p:sp>
      <p:sp>
        <p:nvSpPr>
          <p:cNvPr id="29" name="T"/>
          <p:cNvSpPr/>
          <p:nvPr/>
        </p:nvSpPr>
        <p:spPr>
          <a:xfrm>
            <a:off x="2386584" y="1554480"/>
            <a:ext cx="1938527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</a:rPr>
              <a:t>Checkpoint 1</a:t>
            </a:r>
            <a:endParaRPr lang="en-US" sz="900" dirty="0"/>
          </a:p>
        </p:txBody>
      </p:sp>
      <p:sp>
        <p:nvSpPr>
          <p:cNvPr id="30" name="T"/>
          <p:cNvSpPr/>
          <p:nvPr/>
        </p:nvSpPr>
        <p:spPr>
          <a:xfrm>
            <a:off x="2386584" y="1865376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E5534B"/>
                </a:solidFill>
                <a:latin typeface="Calibri" pitchFamily="34" charset="0"/>
              </a:rPr>
              <a:t>09:00–10:00</a:t>
            </a:r>
            <a:endParaRPr lang="en-US" sz="820" dirty="0"/>
          </a:p>
        </p:txBody>
      </p:sp>
      <p:sp>
        <p:nvSpPr>
          <p:cNvPr id="31" name="T"/>
          <p:cNvSpPr/>
          <p:nvPr/>
        </p:nvSpPr>
        <p:spPr>
          <a:xfrm>
            <a:off x="2386584" y="2048256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60" dirty="0">
                <a:solidFill>
                  <a:srgbClr val="FFFFFF"/>
                </a:solidFill>
                <a:latin typeface="Calibri" pitchFamily="34" charset="0"/>
              </a:rPr>
              <a:t>Ro‘yxatdan o‘tish. Erkin ish</a:t>
            </a:r>
            <a:endParaRPr lang="en-US" sz="860" dirty="0"/>
          </a:p>
        </p:txBody>
      </p:sp>
      <p:sp>
        <p:nvSpPr>
          <p:cNvPr id="32" name="T"/>
          <p:cNvSpPr/>
          <p:nvPr/>
        </p:nvSpPr>
        <p:spPr>
          <a:xfrm>
            <a:off x="2386584" y="2267712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E5534B"/>
                </a:solidFill>
                <a:latin typeface="Calibri" pitchFamily="34" charset="0"/>
              </a:rPr>
              <a:t>10:00–13:00</a:t>
            </a:r>
            <a:endParaRPr lang="en-US" sz="820" dirty="0"/>
          </a:p>
        </p:txBody>
      </p:sp>
      <p:sp>
        <p:nvSpPr>
          <p:cNvPr id="33" name="T"/>
          <p:cNvSpPr/>
          <p:nvPr/>
        </p:nvSpPr>
        <p:spPr>
          <a:xfrm>
            <a:off x="2386584" y="2450592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60" dirty="0">
                <a:solidFill>
                  <a:srgbClr val="FFFFFF"/>
                </a:solidFill>
                <a:latin typeface="Calibri" pitchFamily="34" charset="0"/>
              </a:rPr>
              <a:t>Mentor sessiyalari va loyiha ustida ish</a:t>
            </a:r>
            <a:endParaRPr lang="en-US" sz="860" dirty="0"/>
          </a:p>
        </p:txBody>
      </p:sp>
      <p:sp>
        <p:nvSpPr>
          <p:cNvPr id="34" name="T"/>
          <p:cNvSpPr/>
          <p:nvPr/>
        </p:nvSpPr>
        <p:spPr>
          <a:xfrm>
            <a:off x="2386584" y="2670048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E5534B"/>
                </a:solidFill>
                <a:latin typeface="Calibri" pitchFamily="34" charset="0"/>
              </a:rPr>
              <a:t>13:00–14:00</a:t>
            </a:r>
            <a:endParaRPr lang="en-US" sz="820" dirty="0"/>
          </a:p>
        </p:txBody>
      </p:sp>
      <p:sp>
        <p:nvSpPr>
          <p:cNvPr id="35" name="T"/>
          <p:cNvSpPr/>
          <p:nvPr/>
        </p:nvSpPr>
        <p:spPr>
          <a:xfrm>
            <a:off x="2386584" y="2852928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60" dirty="0">
                <a:solidFill>
                  <a:srgbClr val="FFFFFF"/>
                </a:solidFill>
                <a:latin typeface="Calibri" pitchFamily="34" charset="0"/>
              </a:rPr>
              <a:t>Tushlik</a:t>
            </a:r>
            <a:endParaRPr lang="en-US" sz="860" dirty="0"/>
          </a:p>
        </p:txBody>
      </p:sp>
      <p:sp>
        <p:nvSpPr>
          <p:cNvPr id="36" name="T"/>
          <p:cNvSpPr/>
          <p:nvPr/>
        </p:nvSpPr>
        <p:spPr>
          <a:xfrm>
            <a:off x="2386584" y="3072384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E5534B"/>
                </a:solidFill>
                <a:latin typeface="Calibri" pitchFamily="34" charset="0"/>
              </a:rPr>
              <a:t>14:00–18:00</a:t>
            </a:r>
            <a:endParaRPr lang="en-US" sz="820" dirty="0"/>
          </a:p>
        </p:txBody>
      </p:sp>
      <p:sp>
        <p:nvSpPr>
          <p:cNvPr id="37" name="T"/>
          <p:cNvSpPr/>
          <p:nvPr/>
        </p:nvSpPr>
        <p:spPr>
          <a:xfrm>
            <a:off x="2386584" y="3255264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60" dirty="0">
                <a:solidFill>
                  <a:srgbClr val="FFFFFF"/>
                </a:solidFill>
                <a:latin typeface="Calibri" pitchFamily="34" charset="0"/>
              </a:rPr>
              <a:t>✅ Checkpoint 1</a:t>
            </a:r>
            <a:endParaRPr lang="en-US" sz="860" dirty="0"/>
          </a:p>
        </p:txBody>
      </p:sp>
      <p:sp>
        <p:nvSpPr>
          <p:cNvPr id="38" name="T"/>
          <p:cNvSpPr/>
          <p:nvPr/>
        </p:nvSpPr>
        <p:spPr>
          <a:xfrm>
            <a:off x="2386584" y="3419856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60" dirty="0">
                <a:solidFill>
                  <a:srgbClr val="E5534B"/>
                </a:solidFill>
                <a:latin typeface="Calibri" pitchFamily="34" charset="0"/>
              </a:rPr>
              <a:t>18:00–19:00</a:t>
            </a:r>
            <a:endParaRPr lang="en-US" sz="860" dirty="0"/>
          </a:p>
        </p:txBody>
      </p:sp>
      <p:sp>
        <p:nvSpPr>
          <p:cNvPr id="39" name="T"/>
          <p:cNvSpPr/>
          <p:nvPr/>
        </p:nvSpPr>
        <p:spPr>
          <a:xfrm>
            <a:off x="2386584" y="3595455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FFFFFF"/>
                </a:solidFill>
                <a:latin typeface="Calibri" pitchFamily="34" charset="0"/>
              </a:rPr>
              <a:t>Kechki ovqat</a:t>
            </a:r>
            <a:endParaRPr lang="en-US" sz="820" dirty="0"/>
          </a:p>
        </p:txBody>
      </p:sp>
      <p:sp>
        <p:nvSpPr>
          <p:cNvPr id="40" name="T"/>
          <p:cNvSpPr/>
          <p:nvPr/>
        </p:nvSpPr>
        <p:spPr>
          <a:xfrm>
            <a:off x="2386584" y="3890772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60" dirty="0">
                <a:solidFill>
                  <a:srgbClr val="E5534B"/>
                </a:solidFill>
                <a:latin typeface="Calibri" pitchFamily="34" charset="0"/>
              </a:rPr>
              <a:t>19:00–21:00</a:t>
            </a:r>
            <a:endParaRPr lang="en-US" sz="860" dirty="0"/>
          </a:p>
        </p:txBody>
      </p:sp>
      <p:sp>
        <p:nvSpPr>
          <p:cNvPr id="41" name="T"/>
          <p:cNvSpPr/>
          <p:nvPr/>
        </p:nvSpPr>
        <p:spPr>
          <a:xfrm>
            <a:off x="2386584" y="4041648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FFFFFF"/>
                </a:solidFill>
                <a:latin typeface="Calibri" pitchFamily="34" charset="0"/>
              </a:rPr>
              <a:t>Erkin ish</a:t>
            </a:r>
            <a:endParaRPr lang="en-US" sz="820" dirty="0"/>
          </a:p>
        </p:txBody>
      </p:sp>
      <p:sp>
        <p:nvSpPr>
          <p:cNvPr id="42" name="T"/>
          <p:cNvSpPr/>
          <p:nvPr/>
        </p:nvSpPr>
        <p:spPr>
          <a:xfrm>
            <a:off x="2386584" y="4224528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60" dirty="0">
                <a:solidFill>
                  <a:srgbClr val="D1D5DB"/>
                </a:solidFill>
                <a:latin typeface="Calibri" pitchFamily="34" charset="0"/>
              </a:rPr>
              <a:t> </a:t>
            </a:r>
            <a:endParaRPr lang="en-US" sz="860" dirty="0"/>
          </a:p>
        </p:txBody>
      </p:sp>
      <p:sp>
        <p:nvSpPr>
          <p:cNvPr id="43" name="S"/>
          <p:cNvSpPr/>
          <p:nvPr/>
        </p:nvSpPr>
        <p:spPr>
          <a:xfrm>
            <a:off x="4443983" y="749808"/>
            <a:ext cx="2084831" cy="4206240"/>
          </a:xfrm>
          <a:prstGeom prst="rect">
            <a:avLst/>
          </a:prstGeom>
          <a:solidFill>
            <a:srgbClr val="2D3A50"/>
          </a:solidFill>
          <a:ln w="12700">
            <a:solidFill>
              <a:srgbClr val="2D3A50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4" name="S"/>
          <p:cNvSpPr/>
          <p:nvPr/>
        </p:nvSpPr>
        <p:spPr>
          <a:xfrm>
            <a:off x="4443983" y="749808"/>
            <a:ext cx="2084831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5" name="T"/>
          <p:cNvSpPr/>
          <p:nvPr/>
        </p:nvSpPr>
        <p:spPr>
          <a:xfrm>
            <a:off x="4517136" y="841247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</a:rPr>
              <a:t>3-kun</a:t>
            </a:r>
            <a:endParaRPr lang="en-US" sz="900" dirty="0"/>
          </a:p>
        </p:txBody>
      </p:sp>
      <p:sp>
        <p:nvSpPr>
          <p:cNvPr id="46" name="T"/>
          <p:cNvSpPr/>
          <p:nvPr/>
        </p:nvSpPr>
        <p:spPr>
          <a:xfrm>
            <a:off x="4517136" y="1097280"/>
            <a:ext cx="1938527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</a:rPr>
              <a:t>5 Iyun</a:t>
            </a:r>
            <a:endParaRPr lang="en-US" sz="1700" dirty="0"/>
          </a:p>
        </p:txBody>
      </p:sp>
      <p:sp>
        <p:nvSpPr>
          <p:cNvPr id="47" name="T"/>
          <p:cNvSpPr/>
          <p:nvPr/>
        </p:nvSpPr>
        <p:spPr>
          <a:xfrm>
            <a:off x="4517136" y="1554480"/>
            <a:ext cx="1938527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</a:rPr>
              <a:t>Checkpoint 2</a:t>
            </a:r>
            <a:endParaRPr lang="en-US" sz="900" dirty="0"/>
          </a:p>
        </p:txBody>
      </p:sp>
      <p:sp>
        <p:nvSpPr>
          <p:cNvPr id="48" name="T"/>
          <p:cNvSpPr/>
          <p:nvPr/>
        </p:nvSpPr>
        <p:spPr>
          <a:xfrm>
            <a:off x="4517136" y="1865376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E5534B"/>
                </a:solidFill>
                <a:latin typeface="Calibri" pitchFamily="34" charset="0"/>
              </a:rPr>
              <a:t>09:00–10:00</a:t>
            </a:r>
            <a:endParaRPr lang="en-US" sz="820" dirty="0"/>
          </a:p>
        </p:txBody>
      </p:sp>
      <p:sp>
        <p:nvSpPr>
          <p:cNvPr id="49" name="T"/>
          <p:cNvSpPr/>
          <p:nvPr/>
        </p:nvSpPr>
        <p:spPr>
          <a:xfrm>
            <a:off x="4517136" y="2048256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60" dirty="0">
                <a:solidFill>
                  <a:srgbClr val="FFFFFF"/>
                </a:solidFill>
                <a:latin typeface="Calibri" pitchFamily="34" charset="0"/>
              </a:rPr>
              <a:t>Ro‘yxatdan o‘tish. Erkin ish</a:t>
            </a:r>
            <a:endParaRPr lang="en-US" sz="860" dirty="0"/>
          </a:p>
        </p:txBody>
      </p:sp>
      <p:sp>
        <p:nvSpPr>
          <p:cNvPr id="50" name="T"/>
          <p:cNvSpPr/>
          <p:nvPr/>
        </p:nvSpPr>
        <p:spPr>
          <a:xfrm>
            <a:off x="4517136" y="2267712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E5534B"/>
                </a:solidFill>
                <a:latin typeface="Calibri" pitchFamily="34" charset="0"/>
              </a:rPr>
              <a:t>10:00–11:00</a:t>
            </a:r>
            <a:endParaRPr lang="en-US" sz="820" dirty="0"/>
          </a:p>
        </p:txBody>
      </p:sp>
      <p:sp>
        <p:nvSpPr>
          <p:cNvPr id="51" name="T"/>
          <p:cNvSpPr/>
          <p:nvPr/>
        </p:nvSpPr>
        <p:spPr>
          <a:xfrm>
            <a:off x="4517136" y="2450592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60" dirty="0">
                <a:solidFill>
                  <a:srgbClr val="FFFFFF"/>
                </a:solidFill>
                <a:latin typeface="Calibri" pitchFamily="34" charset="0"/>
              </a:rPr>
              <a:t>Vorkshop 3: Pitching san‘ati</a:t>
            </a:r>
            <a:endParaRPr lang="en-US" sz="860" dirty="0"/>
          </a:p>
        </p:txBody>
      </p:sp>
      <p:sp>
        <p:nvSpPr>
          <p:cNvPr id="52" name="T"/>
          <p:cNvSpPr/>
          <p:nvPr/>
        </p:nvSpPr>
        <p:spPr>
          <a:xfrm>
            <a:off x="4517136" y="2670048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E5534B"/>
                </a:solidFill>
                <a:latin typeface="Calibri" pitchFamily="34" charset="0"/>
              </a:rPr>
              <a:t>11:00–14:00</a:t>
            </a:r>
            <a:endParaRPr lang="en-US" sz="820" dirty="0"/>
          </a:p>
        </p:txBody>
      </p:sp>
      <p:sp>
        <p:nvSpPr>
          <p:cNvPr id="53" name="T"/>
          <p:cNvSpPr/>
          <p:nvPr/>
        </p:nvSpPr>
        <p:spPr>
          <a:xfrm>
            <a:off x="4517136" y="2852928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60" dirty="0">
                <a:solidFill>
                  <a:srgbClr val="FFFFFF"/>
                </a:solidFill>
                <a:latin typeface="Calibri" pitchFamily="34" charset="0"/>
              </a:rPr>
              <a:t>Mentorlar + Tushlik</a:t>
            </a:r>
            <a:endParaRPr lang="en-US" sz="860" dirty="0"/>
          </a:p>
        </p:txBody>
      </p:sp>
      <p:sp>
        <p:nvSpPr>
          <p:cNvPr id="54" name="T"/>
          <p:cNvSpPr/>
          <p:nvPr/>
        </p:nvSpPr>
        <p:spPr>
          <a:xfrm>
            <a:off x="4517136" y="3072384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E5534B"/>
                </a:solidFill>
                <a:latin typeface="Calibri" pitchFamily="34" charset="0"/>
              </a:rPr>
              <a:t>14:00–18:00</a:t>
            </a:r>
            <a:endParaRPr lang="en-US" sz="820" dirty="0"/>
          </a:p>
        </p:txBody>
      </p:sp>
      <p:sp>
        <p:nvSpPr>
          <p:cNvPr id="55" name="T"/>
          <p:cNvSpPr/>
          <p:nvPr/>
        </p:nvSpPr>
        <p:spPr>
          <a:xfrm>
            <a:off x="4517136" y="3255264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60" dirty="0">
                <a:solidFill>
                  <a:srgbClr val="FFFFFF"/>
                </a:solidFill>
                <a:latin typeface="Calibri" pitchFamily="34" charset="0"/>
              </a:rPr>
              <a:t>✅ Checkpoint 2. Taqdimot va GitHub</a:t>
            </a:r>
            <a:endParaRPr lang="en-US" sz="860" dirty="0"/>
          </a:p>
        </p:txBody>
      </p:sp>
      <p:sp>
        <p:nvSpPr>
          <p:cNvPr id="56" name="T"/>
          <p:cNvSpPr/>
          <p:nvPr/>
        </p:nvSpPr>
        <p:spPr>
          <a:xfrm>
            <a:off x="4517136" y="3474720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E5534B"/>
                </a:solidFill>
                <a:latin typeface="Calibri" pitchFamily="34" charset="0"/>
              </a:rPr>
              <a:t>18:00–19:00</a:t>
            </a:r>
            <a:endParaRPr lang="en-US" sz="820" dirty="0"/>
          </a:p>
        </p:txBody>
      </p:sp>
      <p:sp>
        <p:nvSpPr>
          <p:cNvPr id="57" name="T"/>
          <p:cNvSpPr/>
          <p:nvPr/>
        </p:nvSpPr>
        <p:spPr>
          <a:xfrm>
            <a:off x="4517136" y="3657600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60" dirty="0">
                <a:solidFill>
                  <a:srgbClr val="FFFFFF"/>
                </a:solidFill>
                <a:latin typeface="Calibri" pitchFamily="34" charset="0"/>
              </a:rPr>
              <a:t>Kechki ovqat</a:t>
            </a:r>
            <a:endParaRPr lang="en-US" sz="860" dirty="0"/>
          </a:p>
        </p:txBody>
      </p:sp>
      <p:sp>
        <p:nvSpPr>
          <p:cNvPr id="58" name="T"/>
          <p:cNvSpPr/>
          <p:nvPr/>
        </p:nvSpPr>
        <p:spPr>
          <a:xfrm>
            <a:off x="4517136" y="3881628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60" dirty="0">
                <a:solidFill>
                  <a:srgbClr val="E5534B"/>
                </a:solidFill>
                <a:latin typeface="Calibri" pitchFamily="34" charset="0"/>
              </a:rPr>
              <a:t>19:00–19:30</a:t>
            </a:r>
            <a:endParaRPr lang="en-US" sz="860" dirty="0"/>
          </a:p>
        </p:txBody>
      </p:sp>
      <p:sp>
        <p:nvSpPr>
          <p:cNvPr id="59" name="T"/>
          <p:cNvSpPr/>
          <p:nvPr/>
        </p:nvSpPr>
        <p:spPr>
          <a:xfrm>
            <a:off x="4517136" y="4041648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FFFFFF"/>
                </a:solidFill>
                <a:latin typeface="Calibri" pitchFamily="34" charset="0"/>
              </a:rPr>
              <a:t>Top 20 finalistlar e‘lon</a:t>
            </a:r>
            <a:endParaRPr lang="en-US" sz="820" dirty="0"/>
          </a:p>
        </p:txBody>
      </p:sp>
      <p:sp>
        <p:nvSpPr>
          <p:cNvPr id="60" name="T"/>
          <p:cNvSpPr/>
          <p:nvPr/>
        </p:nvSpPr>
        <p:spPr>
          <a:xfrm>
            <a:off x="4517136" y="4283964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60" dirty="0">
                <a:solidFill>
                  <a:srgbClr val="E5534B"/>
                </a:solidFill>
                <a:latin typeface="Calibri" pitchFamily="34" charset="0"/>
              </a:rPr>
              <a:t>19:30–21:00</a:t>
            </a:r>
            <a:endParaRPr lang="en-US" sz="860" dirty="0"/>
          </a:p>
        </p:txBody>
      </p:sp>
      <p:sp>
        <p:nvSpPr>
          <p:cNvPr id="61" name="T"/>
          <p:cNvSpPr/>
          <p:nvPr/>
        </p:nvSpPr>
        <p:spPr>
          <a:xfrm>
            <a:off x="4517136" y="4443984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FFFFFF"/>
                </a:solidFill>
                <a:latin typeface="Calibri" pitchFamily="34" charset="0"/>
              </a:rPr>
              <a:t>Finalistlar tayyorgarlik va video</a:t>
            </a:r>
            <a:endParaRPr lang="en-US" sz="820" dirty="0"/>
          </a:p>
        </p:txBody>
      </p:sp>
      <p:sp>
        <p:nvSpPr>
          <p:cNvPr id="62" name="T"/>
          <p:cNvSpPr/>
          <p:nvPr/>
        </p:nvSpPr>
        <p:spPr>
          <a:xfrm>
            <a:off x="4517136" y="4626864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860" dirty="0"/>
          </a:p>
        </p:txBody>
      </p:sp>
      <p:sp>
        <p:nvSpPr>
          <p:cNvPr id="63" name="S"/>
          <p:cNvSpPr/>
          <p:nvPr/>
        </p:nvSpPr>
        <p:spPr>
          <a:xfrm>
            <a:off x="6574535" y="749808"/>
            <a:ext cx="2084831" cy="4206240"/>
          </a:xfrm>
          <a:prstGeom prst="rect">
            <a:avLst/>
          </a:prstGeom>
          <a:solidFill>
            <a:srgbClr val="150A0A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4" name="S"/>
          <p:cNvSpPr/>
          <p:nvPr/>
        </p:nvSpPr>
        <p:spPr>
          <a:xfrm>
            <a:off x="6574535" y="749808"/>
            <a:ext cx="2084831" cy="5486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5" name="T"/>
          <p:cNvSpPr/>
          <p:nvPr/>
        </p:nvSpPr>
        <p:spPr>
          <a:xfrm>
            <a:off x="6647687" y="841247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5534B"/>
                </a:solidFill>
                <a:latin typeface="Calibri" pitchFamily="34" charset="0"/>
              </a:rPr>
              <a:t>FINAL</a:t>
            </a:r>
            <a:endParaRPr lang="en-US" sz="900" dirty="0"/>
          </a:p>
        </p:txBody>
      </p:sp>
      <p:sp>
        <p:nvSpPr>
          <p:cNvPr id="66" name="T"/>
          <p:cNvSpPr/>
          <p:nvPr/>
        </p:nvSpPr>
        <p:spPr>
          <a:xfrm>
            <a:off x="6647687" y="1097280"/>
            <a:ext cx="1938527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</a:rPr>
              <a:t>6 Iyun</a:t>
            </a:r>
            <a:endParaRPr lang="en-US" sz="1700" dirty="0"/>
          </a:p>
        </p:txBody>
      </p:sp>
      <p:sp>
        <p:nvSpPr>
          <p:cNvPr id="67" name="T"/>
          <p:cNvSpPr/>
          <p:nvPr/>
        </p:nvSpPr>
        <p:spPr>
          <a:xfrm>
            <a:off x="6647687" y="1554480"/>
            <a:ext cx="1938527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</a:rPr>
              <a:t>Final</a:t>
            </a:r>
            <a:endParaRPr lang="en-US" sz="900" dirty="0"/>
          </a:p>
        </p:txBody>
      </p:sp>
      <p:sp>
        <p:nvSpPr>
          <p:cNvPr id="68" name="T"/>
          <p:cNvSpPr/>
          <p:nvPr/>
        </p:nvSpPr>
        <p:spPr>
          <a:xfrm>
            <a:off x="6647687" y="1865376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E5534B"/>
                </a:solidFill>
                <a:latin typeface="Calibri" pitchFamily="34" charset="0"/>
              </a:rPr>
              <a:t>09:00–09:30</a:t>
            </a:r>
            <a:endParaRPr lang="en-US" sz="820" dirty="0"/>
          </a:p>
        </p:txBody>
      </p:sp>
      <p:sp>
        <p:nvSpPr>
          <p:cNvPr id="69" name="T"/>
          <p:cNvSpPr/>
          <p:nvPr/>
        </p:nvSpPr>
        <p:spPr>
          <a:xfrm>
            <a:off x="6647687" y="2048256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20" dirty="0">
                <a:solidFill>
                  <a:srgbClr val="FFFFFF"/>
                </a:solidFill>
                <a:latin typeface="Calibri" pitchFamily="34" charset="0"/>
              </a:rPr>
              <a:t>Final ochilishi </a:t>
            </a:r>
            <a:r>
              <a:rPr lang="en-US" sz="820" dirty="0" err="1">
                <a:solidFill>
                  <a:srgbClr val="FFFFFF"/>
                </a:solidFill>
                <a:latin typeface="Calibri" pitchFamily="34" charset="0"/>
              </a:rPr>
              <a:t>va</a:t>
            </a:r>
            <a:r>
              <a:rPr lang="en-US" sz="820" dirty="0">
                <a:solidFill>
                  <a:srgbClr val="FFFFFF"/>
                </a:solidFill>
                <a:latin typeface="Calibri" pitchFamily="34" charset="0"/>
              </a:rPr>
              <a:t> </a:t>
            </a:r>
            <a:r>
              <a:rPr lang="en-US" sz="820" dirty="0" err="1">
                <a:solidFill>
                  <a:srgbClr val="FFFFFF"/>
                </a:solidFill>
                <a:latin typeface="Calibri" pitchFamily="34" charset="0"/>
              </a:rPr>
              <a:t>hakamlar</a:t>
            </a:r>
            <a:r>
              <a:rPr lang="en-US" sz="820" dirty="0">
                <a:solidFill>
                  <a:srgbClr val="FFFFFF"/>
                </a:solidFill>
                <a:latin typeface="Calibri" pitchFamily="34" charset="0"/>
              </a:rPr>
              <a:t> </a:t>
            </a:r>
            <a:r>
              <a:rPr lang="en-US" sz="820" dirty="0" err="1">
                <a:solidFill>
                  <a:srgbClr val="FFFFFF"/>
                </a:solidFill>
                <a:latin typeface="Calibri" pitchFamily="34" charset="0"/>
              </a:rPr>
              <a:t>bilan</a:t>
            </a:r>
            <a:r>
              <a:rPr lang="en-US" sz="820" dirty="0">
                <a:solidFill>
                  <a:srgbClr val="FFFFFF"/>
                </a:solidFill>
                <a:latin typeface="Calibri" pitchFamily="34" charset="0"/>
              </a:rPr>
              <a:t> </a:t>
            </a:r>
            <a:r>
              <a:rPr lang="en-US" sz="820" dirty="0" err="1">
                <a:solidFill>
                  <a:srgbClr val="FFFFFF"/>
                </a:solidFill>
                <a:latin typeface="Calibri" pitchFamily="34" charset="0"/>
              </a:rPr>
              <a:t>tanishuv</a:t>
            </a:r>
            <a:endParaRPr lang="en-US" sz="820" dirty="0"/>
          </a:p>
        </p:txBody>
      </p:sp>
      <p:sp>
        <p:nvSpPr>
          <p:cNvPr id="70" name="T"/>
          <p:cNvSpPr/>
          <p:nvPr/>
        </p:nvSpPr>
        <p:spPr>
          <a:xfrm>
            <a:off x="6647687" y="2267712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E5534B"/>
                </a:solidFill>
                <a:latin typeface="Calibri" pitchFamily="34" charset="0"/>
              </a:rPr>
              <a:t>09:30–12:50</a:t>
            </a:r>
            <a:endParaRPr lang="en-US" sz="820" dirty="0"/>
          </a:p>
        </p:txBody>
      </p:sp>
      <p:sp>
        <p:nvSpPr>
          <p:cNvPr id="71" name="T"/>
          <p:cNvSpPr/>
          <p:nvPr/>
        </p:nvSpPr>
        <p:spPr>
          <a:xfrm>
            <a:off x="6647687" y="2450592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60" dirty="0">
                <a:solidFill>
                  <a:srgbClr val="FFFFFF"/>
                </a:solidFill>
                <a:latin typeface="Calibri" pitchFamily="34" charset="0"/>
              </a:rPr>
              <a:t>🎤 Finalistlar pitchlari</a:t>
            </a:r>
            <a:endParaRPr lang="en-US" sz="860" dirty="0"/>
          </a:p>
        </p:txBody>
      </p:sp>
      <p:sp>
        <p:nvSpPr>
          <p:cNvPr id="72" name="T"/>
          <p:cNvSpPr/>
          <p:nvPr/>
        </p:nvSpPr>
        <p:spPr>
          <a:xfrm>
            <a:off x="6647687" y="2670048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E5534B"/>
                </a:solidFill>
                <a:latin typeface="Calibri" pitchFamily="34" charset="0"/>
              </a:rPr>
              <a:t>13:30–14:00</a:t>
            </a:r>
            <a:endParaRPr lang="en-US" sz="820" dirty="0"/>
          </a:p>
        </p:txBody>
      </p:sp>
      <p:sp>
        <p:nvSpPr>
          <p:cNvPr id="73" name="T"/>
          <p:cNvSpPr/>
          <p:nvPr/>
        </p:nvSpPr>
        <p:spPr>
          <a:xfrm>
            <a:off x="6647687" y="2852928"/>
            <a:ext cx="1938527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60" dirty="0">
                <a:solidFill>
                  <a:srgbClr val="FFFFFF"/>
                </a:solidFill>
                <a:latin typeface="Calibri" pitchFamily="34" charset="0"/>
              </a:rPr>
              <a:t>G‘oliblar e‘lon qilinadi</a:t>
            </a:r>
            <a:endParaRPr lang="en-US" sz="8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4892040"/>
            <a:ext cx="9144000" cy="182880"/>
          </a:xfrm>
          <a:prstGeom prst="rect">
            <a:avLst/>
          </a:prstGeom>
          <a:solidFill>
            <a:srgbClr val="E5534B">
              <a:alpha val="30000"/>
            </a:srgbClr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"/>
          <p:cNvSpPr/>
          <p:nvPr/>
        </p:nvSpPr>
        <p:spPr>
          <a:xfrm>
            <a:off x="45720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Xakaton Paytida Binoda Bo‘lish</a:t>
            </a:r>
            <a:endParaRPr lang="en-US" sz="2600" dirty="0"/>
          </a:p>
        </p:txBody>
      </p:sp>
      <p:sp>
        <p:nvSpPr>
          <p:cNvPr id="4" name="Text"/>
          <p:cNvSpPr/>
          <p:nvPr/>
        </p:nvSpPr>
        <p:spPr>
          <a:xfrm>
            <a:off x="8229600" y="1371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400" dirty="0"/>
          </a:p>
        </p:txBody>
      </p:sp>
      <p:sp>
        <p:nvSpPr>
          <p:cNvPr id="5" name="Shape"/>
          <p:cNvSpPr/>
          <p:nvPr/>
        </p:nvSpPr>
        <p:spPr>
          <a:xfrm>
            <a:off x="320040" y="804672"/>
            <a:ext cx="8503920" cy="868680"/>
          </a:xfrm>
          <a:prstGeom prst="rect">
            <a:avLst/>
          </a:prstGeom>
          <a:solidFill>
            <a:srgbClr val="150A0A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Shape"/>
          <p:cNvSpPr/>
          <p:nvPr/>
        </p:nvSpPr>
        <p:spPr>
          <a:xfrm>
            <a:off x="320040" y="804672"/>
            <a:ext cx="8503920" cy="5486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7" name="Text"/>
          <p:cNvSpPr/>
          <p:nvPr/>
        </p:nvSpPr>
        <p:spPr>
          <a:xfrm>
            <a:off x="502920" y="841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800" dirty="0"/>
          </a:p>
        </p:txBody>
      </p:sp>
      <p:sp>
        <p:nvSpPr>
          <p:cNvPr id="8" name="Text"/>
          <p:cNvSpPr/>
          <p:nvPr/>
        </p:nvSpPr>
        <p:spPr>
          <a:xfrm>
            <a:off x="1051560" y="877824"/>
            <a:ext cx="7635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QOIDA: 3 iyun va 4 iyun kunlari barcha jamoalar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a‘zolar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xakaton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o‘tkazilayotgan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binoda bo‘lishlari SHART.</a:t>
            </a:r>
            <a:endParaRPr lang="en-US" sz="1200" dirty="0"/>
          </a:p>
        </p:txBody>
      </p:sp>
      <p:sp>
        <p:nvSpPr>
          <p:cNvPr id="9" name="Shape"/>
          <p:cNvSpPr/>
          <p:nvPr/>
        </p:nvSpPr>
        <p:spPr>
          <a:xfrm>
            <a:off x="320040" y="1920240"/>
            <a:ext cx="4160520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Text"/>
          <p:cNvSpPr/>
          <p:nvPr/>
        </p:nvSpPr>
        <p:spPr>
          <a:xfrm>
            <a:off x="457200" y="201168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Nazorat Tizimi</a:t>
            </a:r>
            <a:endParaRPr lang="en-US" sz="1200" dirty="0"/>
          </a:p>
        </p:txBody>
      </p:sp>
      <p:sp>
        <p:nvSpPr>
          <p:cNvPr id="11" name="Text"/>
          <p:cNvSpPr/>
          <p:nvPr/>
        </p:nvSpPr>
        <p:spPr>
          <a:xfrm>
            <a:off x="457200" y="2395728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Koordinatorlar har 2 soatda jamoalarni binoda ekanligini va ish jarayoni to‘g‘ri tashkil etilganligini nazorat qilib borishadi.</a:t>
            </a:r>
            <a:endParaRPr lang="en-US" sz="1000" dirty="0"/>
          </a:p>
        </p:txBody>
      </p:sp>
      <p:sp>
        <p:nvSpPr>
          <p:cNvPr id="12" name="Shape"/>
          <p:cNvSpPr/>
          <p:nvPr/>
        </p:nvSpPr>
        <p:spPr>
          <a:xfrm>
            <a:off x="4663440" y="1920240"/>
            <a:ext cx="4160520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3" name="Text"/>
          <p:cNvSpPr/>
          <p:nvPr/>
        </p:nvSpPr>
        <p:spPr>
          <a:xfrm>
            <a:off x="4800600" y="201168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Javobgarlik</a:t>
            </a:r>
            <a:endParaRPr lang="en-US" sz="1200" dirty="0"/>
          </a:p>
        </p:txBody>
      </p:sp>
      <p:sp>
        <p:nvSpPr>
          <p:cNvPr id="14" name="Text"/>
          <p:cNvSpPr/>
          <p:nvPr/>
        </p:nvSpPr>
        <p:spPr>
          <a:xfrm>
            <a:off x="4800600" y="2395728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Agar nazorat vaqtida jamoa yoki a‘zolar joyida bo‘lmasa, bu holat qayd etiladi va jamoani Xakatondan chetlatishga olib kelishi mumkin.</a:t>
            </a:r>
            <a:endParaRPr lang="en-US" sz="1000" dirty="0"/>
          </a:p>
        </p:txBody>
      </p:sp>
      <p:sp>
        <p:nvSpPr>
          <p:cNvPr id="15" name="Shape"/>
          <p:cNvSpPr/>
          <p:nvPr/>
        </p:nvSpPr>
        <p:spPr>
          <a:xfrm>
            <a:off x="320040" y="3337560"/>
            <a:ext cx="4160520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6" name="Text"/>
          <p:cNvSpPr/>
          <p:nvPr/>
        </p:nvSpPr>
        <p:spPr>
          <a:xfrm>
            <a:off x="457200" y="342900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Ruxsat Etilgan</a:t>
            </a:r>
            <a:endParaRPr lang="en-US" sz="1200" dirty="0"/>
          </a:p>
        </p:txBody>
      </p:sp>
      <p:sp>
        <p:nvSpPr>
          <p:cNvPr id="17" name="Text"/>
          <p:cNvSpPr/>
          <p:nvPr/>
        </p:nvSpPr>
        <p:spPr>
          <a:xfrm>
            <a:off x="457200" y="3813048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Kichik uzilishlar va qisqa muddatga chiqib-kirishlar mumkin, ammo bu ish jarayoniga xalaqit bermasligi kerak.</a:t>
            </a:r>
            <a:endParaRPr lang="en-US" sz="1000" dirty="0"/>
          </a:p>
        </p:txBody>
      </p:sp>
      <p:sp>
        <p:nvSpPr>
          <p:cNvPr id="18" name="Shape"/>
          <p:cNvSpPr/>
          <p:nvPr/>
        </p:nvSpPr>
        <p:spPr>
          <a:xfrm>
            <a:off x="4663440" y="3337560"/>
            <a:ext cx="4160520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9" name="Text"/>
          <p:cNvSpPr/>
          <p:nvPr/>
        </p:nvSpPr>
        <p:spPr>
          <a:xfrm>
            <a:off x="4800600" y="342900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Maqsad</a:t>
            </a:r>
            <a:endParaRPr lang="en-US" sz="1200" dirty="0"/>
          </a:p>
        </p:txBody>
      </p:sp>
      <p:sp>
        <p:nvSpPr>
          <p:cNvPr id="20" name="Text"/>
          <p:cNvSpPr/>
          <p:nvPr/>
        </p:nvSpPr>
        <p:spPr>
          <a:xfrm>
            <a:off x="4800600" y="3813048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qoida jamoaviy ishlash muhitini, halol raqobatni va mentorlar bilan samarali hamkorlikni ta‘minlash uchun zarur.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4892040"/>
            <a:ext cx="9144000" cy="182880"/>
          </a:xfrm>
          <a:prstGeom prst="rect">
            <a:avLst/>
          </a:prstGeom>
          <a:solidFill>
            <a:srgbClr val="E5534B">
              <a:alpha val="30000"/>
            </a:srgbClr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"/>
          <p:cNvSpPr/>
          <p:nvPr/>
        </p:nvSpPr>
        <p:spPr>
          <a:xfrm>
            <a:off x="45720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Point 1: Natijalarni Qayta Ishlash</a:t>
            </a:r>
            <a:endParaRPr lang="en-US" sz="2600" dirty="0"/>
          </a:p>
        </p:txBody>
      </p:sp>
      <p:sp>
        <p:nvSpPr>
          <p:cNvPr id="4" name="Text"/>
          <p:cNvSpPr/>
          <p:nvPr/>
        </p:nvSpPr>
        <p:spPr>
          <a:xfrm>
            <a:off x="8229600" y="1371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400" dirty="0"/>
          </a:p>
        </p:txBody>
      </p:sp>
      <p:sp>
        <p:nvSpPr>
          <p:cNvPr id="5" name="Shape"/>
          <p:cNvSpPr/>
          <p:nvPr/>
        </p:nvSpPr>
        <p:spPr>
          <a:xfrm>
            <a:off x="320040" y="960120"/>
            <a:ext cx="850392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Shape"/>
          <p:cNvSpPr/>
          <p:nvPr/>
        </p:nvSpPr>
        <p:spPr>
          <a:xfrm>
            <a:off x="320040" y="960120"/>
            <a:ext cx="45720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7" name="Text"/>
          <p:cNvSpPr/>
          <p:nvPr/>
        </p:nvSpPr>
        <p:spPr>
          <a:xfrm>
            <a:off x="320040" y="96012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"/>
          <p:cNvSpPr/>
          <p:nvPr/>
        </p:nvSpPr>
        <p:spPr>
          <a:xfrm>
            <a:off x="868680" y="10332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Ma‘lumotlarni Yig‘ish</a:t>
            </a:r>
            <a:endParaRPr lang="en-US" sz="1400" dirty="0"/>
          </a:p>
        </p:txBody>
      </p:sp>
      <p:sp>
        <p:nvSpPr>
          <p:cNvPr id="9" name="Text"/>
          <p:cNvSpPr/>
          <p:nvPr/>
        </p:nvSpPr>
        <p:spPr>
          <a:xfrm>
            <a:off x="868680" y="1380744"/>
            <a:ext cx="7818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Koordinatorlar barcha mentorlardan baholash varaqalarini to‘playdilar.</a:t>
            </a:r>
            <a:endParaRPr lang="en-US" sz="1100" dirty="0"/>
          </a:p>
        </p:txBody>
      </p:sp>
      <p:sp>
        <p:nvSpPr>
          <p:cNvPr id="10" name="Shape"/>
          <p:cNvSpPr/>
          <p:nvPr/>
        </p:nvSpPr>
        <p:spPr>
          <a:xfrm>
            <a:off x="320040" y="1856232"/>
            <a:ext cx="850392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1" name="Shape"/>
          <p:cNvSpPr/>
          <p:nvPr/>
        </p:nvSpPr>
        <p:spPr>
          <a:xfrm>
            <a:off x="320040" y="1856232"/>
            <a:ext cx="45720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2" name="Text"/>
          <p:cNvSpPr/>
          <p:nvPr/>
        </p:nvSpPr>
        <p:spPr>
          <a:xfrm>
            <a:off x="320040" y="1856232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"/>
          <p:cNvSpPr/>
          <p:nvPr/>
        </p:nvSpPr>
        <p:spPr>
          <a:xfrm>
            <a:off x="868680" y="192938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Raqamlashtirish</a:t>
            </a:r>
            <a:endParaRPr lang="en-US" sz="1400" dirty="0"/>
          </a:p>
        </p:txBody>
      </p:sp>
      <p:sp>
        <p:nvSpPr>
          <p:cNvPr id="14" name="Text"/>
          <p:cNvSpPr/>
          <p:nvPr/>
        </p:nvSpPr>
        <p:spPr>
          <a:xfrm>
            <a:off x="868680" y="2276856"/>
            <a:ext cx="7818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ballar yagona markazlashgan elektron jadvalga kiritiladi.</a:t>
            </a:r>
            <a:endParaRPr lang="en-US" sz="1100" dirty="0"/>
          </a:p>
        </p:txBody>
      </p:sp>
      <p:sp>
        <p:nvSpPr>
          <p:cNvPr id="15" name="Shape"/>
          <p:cNvSpPr/>
          <p:nvPr/>
        </p:nvSpPr>
        <p:spPr>
          <a:xfrm>
            <a:off x="320040" y="2752344"/>
            <a:ext cx="850392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6" name="Shape"/>
          <p:cNvSpPr/>
          <p:nvPr/>
        </p:nvSpPr>
        <p:spPr>
          <a:xfrm>
            <a:off x="320040" y="2752344"/>
            <a:ext cx="45720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7" name="Text"/>
          <p:cNvSpPr/>
          <p:nvPr/>
        </p:nvSpPr>
        <p:spPr>
          <a:xfrm>
            <a:off x="320040" y="2752344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"/>
          <p:cNvSpPr/>
          <p:nvPr/>
        </p:nvSpPr>
        <p:spPr>
          <a:xfrm>
            <a:off x="868680" y="282549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Hisoblash</a:t>
            </a:r>
            <a:endParaRPr lang="en-US" sz="1400" dirty="0"/>
          </a:p>
        </p:txBody>
      </p:sp>
      <p:sp>
        <p:nvSpPr>
          <p:cNvPr id="19" name="Text"/>
          <p:cNvSpPr/>
          <p:nvPr/>
        </p:nvSpPr>
        <p:spPr>
          <a:xfrm>
            <a:off x="868680" y="3172968"/>
            <a:ext cx="7818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jamoa uchun Check Point </a:t>
            </a:r>
            <a:r>
              <a:rPr lang="en-US" sz="11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balli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formula asosida hisoblanadi.</a:t>
            </a:r>
            <a:endParaRPr lang="en-US" sz="1100" dirty="0"/>
          </a:p>
        </p:txBody>
      </p:sp>
      <p:sp>
        <p:nvSpPr>
          <p:cNvPr id="20" name="Shape"/>
          <p:cNvSpPr/>
          <p:nvPr/>
        </p:nvSpPr>
        <p:spPr>
          <a:xfrm>
            <a:off x="320040" y="3648456"/>
            <a:ext cx="850392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1" name="Shape"/>
          <p:cNvSpPr/>
          <p:nvPr/>
        </p:nvSpPr>
        <p:spPr>
          <a:xfrm>
            <a:off x="320040" y="3648456"/>
            <a:ext cx="45720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2" name="Text"/>
          <p:cNvSpPr/>
          <p:nvPr/>
        </p:nvSpPr>
        <p:spPr>
          <a:xfrm>
            <a:off x="320040" y="3648456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"/>
          <p:cNvSpPr/>
          <p:nvPr/>
        </p:nvSpPr>
        <p:spPr>
          <a:xfrm>
            <a:off x="868680" y="37216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Reytinglash</a:t>
            </a:r>
            <a:endParaRPr lang="en-US" sz="1400" dirty="0"/>
          </a:p>
        </p:txBody>
      </p:sp>
      <p:sp>
        <p:nvSpPr>
          <p:cNvPr id="24" name="Text"/>
          <p:cNvSpPr/>
          <p:nvPr/>
        </p:nvSpPr>
        <p:spPr>
          <a:xfrm>
            <a:off x="868680" y="4069080"/>
            <a:ext cx="7818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yo‘nalish (trek) ICHIDA alohida reyting shakllantiriladi.</a:t>
            </a:r>
            <a:endParaRPr lang="en-US" sz="1100" dirty="0"/>
          </a:p>
        </p:txBody>
      </p:sp>
      <p:sp>
        <p:nvSpPr>
          <p:cNvPr id="25" name="Shape"/>
          <p:cNvSpPr/>
          <p:nvPr/>
        </p:nvSpPr>
        <p:spPr>
          <a:xfrm>
            <a:off x="320040" y="4590288"/>
            <a:ext cx="8503920" cy="274320"/>
          </a:xfrm>
          <a:prstGeom prst="rect">
            <a:avLst/>
          </a:prstGeom>
          <a:solidFill>
            <a:srgbClr val="0D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6" name="Text"/>
          <p:cNvSpPr/>
          <p:nvPr/>
        </p:nvSpPr>
        <p:spPr>
          <a:xfrm>
            <a:off x="457200" y="4608576"/>
            <a:ext cx="164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200" dirty="0"/>
          </a:p>
        </p:txBody>
      </p:sp>
      <p:sp>
        <p:nvSpPr>
          <p:cNvPr id="27" name="Text"/>
          <p:cNvSpPr/>
          <p:nvPr/>
        </p:nvSpPr>
        <p:spPr>
          <a:xfrm>
            <a:off x="685800" y="4617720"/>
            <a:ext cx="8001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jarayonda xavfsizlik va shaffoflik asosiy tamoyildir. Barcha hisoblashlar tekshiriladi va tasdiqlanadi.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4892040"/>
            <a:ext cx="9144000" cy="182880"/>
          </a:xfrm>
          <a:prstGeom prst="rect">
            <a:avLst/>
          </a:prstGeom>
          <a:solidFill>
            <a:srgbClr val="E5534B">
              <a:alpha val="30000"/>
            </a:srgbClr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"/>
          <p:cNvSpPr/>
          <p:nvPr/>
        </p:nvSpPr>
        <p:spPr>
          <a:xfrm>
            <a:off x="45720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Point 2 dan So‘ng</a:t>
            </a:r>
            <a:endParaRPr lang="en-US" sz="2600" dirty="0"/>
          </a:p>
        </p:txBody>
      </p:sp>
      <p:sp>
        <p:nvSpPr>
          <p:cNvPr id="4" name="Text"/>
          <p:cNvSpPr/>
          <p:nvPr/>
        </p:nvSpPr>
        <p:spPr>
          <a:xfrm>
            <a:off x="8229600" y="1371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400" dirty="0"/>
          </a:p>
        </p:txBody>
      </p:sp>
      <p:sp>
        <p:nvSpPr>
          <p:cNvPr id="5" name="Shape"/>
          <p:cNvSpPr/>
          <p:nvPr/>
        </p:nvSpPr>
        <p:spPr>
          <a:xfrm>
            <a:off x="320040" y="868680"/>
            <a:ext cx="6858000" cy="694944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Shape"/>
          <p:cNvSpPr/>
          <p:nvPr/>
        </p:nvSpPr>
        <p:spPr>
          <a:xfrm>
            <a:off x="320040" y="868680"/>
            <a:ext cx="457200" cy="694944"/>
          </a:xfrm>
          <a:prstGeom prst="rect">
            <a:avLst/>
          </a:prstGeom>
          <a:solidFill>
            <a:srgbClr val="111827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7" name="Text"/>
          <p:cNvSpPr/>
          <p:nvPr/>
        </p:nvSpPr>
        <p:spPr>
          <a:xfrm>
            <a:off x="320040" y="868680"/>
            <a:ext cx="457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"/>
          <p:cNvSpPr/>
          <p:nvPr/>
        </p:nvSpPr>
        <p:spPr>
          <a:xfrm>
            <a:off x="868680" y="93268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Ma‘lumotlarni Yig‘ish</a:t>
            </a:r>
            <a:endParaRPr lang="en-US" sz="1300" dirty="0"/>
          </a:p>
        </p:txBody>
      </p:sp>
      <p:sp>
        <p:nvSpPr>
          <p:cNvPr id="9" name="Text"/>
          <p:cNvSpPr/>
          <p:nvPr/>
        </p:nvSpPr>
        <p:spPr>
          <a:xfrm>
            <a:off x="868680" y="123444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Koordinatorlar barcha baholash varaqalarini to‘playdi va jadvalga kiritadi.</a:t>
            </a:r>
            <a:endParaRPr lang="en-US" sz="1050" dirty="0"/>
          </a:p>
        </p:txBody>
      </p:sp>
      <p:sp>
        <p:nvSpPr>
          <p:cNvPr id="10" name="Shape"/>
          <p:cNvSpPr/>
          <p:nvPr/>
        </p:nvSpPr>
        <p:spPr>
          <a:xfrm>
            <a:off x="320040" y="1673352"/>
            <a:ext cx="6858000" cy="694944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1" name="Shape"/>
          <p:cNvSpPr/>
          <p:nvPr/>
        </p:nvSpPr>
        <p:spPr>
          <a:xfrm>
            <a:off x="320040" y="1673352"/>
            <a:ext cx="457200" cy="694944"/>
          </a:xfrm>
          <a:prstGeom prst="rect">
            <a:avLst/>
          </a:prstGeom>
          <a:solidFill>
            <a:srgbClr val="111827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2" name="Text"/>
          <p:cNvSpPr/>
          <p:nvPr/>
        </p:nvSpPr>
        <p:spPr>
          <a:xfrm>
            <a:off x="320040" y="1673352"/>
            <a:ext cx="457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"/>
          <p:cNvSpPr/>
          <p:nvPr/>
        </p:nvSpPr>
        <p:spPr>
          <a:xfrm>
            <a:off x="868680" y="17373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Yakuniy Reytingni Hisoblash</a:t>
            </a:r>
            <a:endParaRPr lang="en-US" sz="1300" dirty="0"/>
          </a:p>
        </p:txBody>
      </p:sp>
      <p:sp>
        <p:nvSpPr>
          <p:cNvPr id="14" name="Text"/>
          <p:cNvSpPr/>
          <p:nvPr/>
        </p:nvSpPr>
        <p:spPr>
          <a:xfrm>
            <a:off x="868680" y="2039112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bo‘yicha hisoblanadi: Reyting = 0.4 × CP1 + 0.6 × CP2</a:t>
            </a:r>
            <a:endParaRPr lang="en-US" sz="1050" dirty="0"/>
          </a:p>
        </p:txBody>
      </p:sp>
      <p:sp>
        <p:nvSpPr>
          <p:cNvPr id="15" name="Shape"/>
          <p:cNvSpPr/>
          <p:nvPr/>
        </p:nvSpPr>
        <p:spPr>
          <a:xfrm>
            <a:off x="320040" y="2478024"/>
            <a:ext cx="6858000" cy="694944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6" name="Shape"/>
          <p:cNvSpPr/>
          <p:nvPr/>
        </p:nvSpPr>
        <p:spPr>
          <a:xfrm>
            <a:off x="320040" y="2478024"/>
            <a:ext cx="457200" cy="694944"/>
          </a:xfrm>
          <a:prstGeom prst="rect">
            <a:avLst/>
          </a:prstGeom>
          <a:solidFill>
            <a:srgbClr val="111827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7" name="Text"/>
          <p:cNvSpPr/>
          <p:nvPr/>
        </p:nvSpPr>
        <p:spPr>
          <a:xfrm>
            <a:off x="320040" y="2478024"/>
            <a:ext cx="457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"/>
          <p:cNvSpPr/>
          <p:nvPr/>
        </p:nvSpPr>
        <p:spPr>
          <a:xfrm>
            <a:off x="868680" y="254203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Reyting Shakllantirish</a:t>
            </a:r>
            <a:endParaRPr lang="en-US" sz="1300" dirty="0"/>
          </a:p>
        </p:txBody>
      </p:sp>
      <p:sp>
        <p:nvSpPr>
          <p:cNvPr id="19" name="Text"/>
          <p:cNvSpPr/>
          <p:nvPr/>
        </p:nvSpPr>
        <p:spPr>
          <a:xfrm>
            <a:off x="868680" y="2843784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yo‘nalish (trek) doirasida jamoalar reytingi tuziladi.</a:t>
            </a:r>
            <a:endParaRPr lang="en-US" sz="1050" dirty="0"/>
          </a:p>
        </p:txBody>
      </p:sp>
      <p:sp>
        <p:nvSpPr>
          <p:cNvPr id="20" name="Shape"/>
          <p:cNvSpPr/>
          <p:nvPr/>
        </p:nvSpPr>
        <p:spPr>
          <a:xfrm>
            <a:off x="320040" y="3282696"/>
            <a:ext cx="6858000" cy="694944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1" name="Shape"/>
          <p:cNvSpPr/>
          <p:nvPr/>
        </p:nvSpPr>
        <p:spPr>
          <a:xfrm>
            <a:off x="320040" y="3282696"/>
            <a:ext cx="457200" cy="694944"/>
          </a:xfrm>
          <a:prstGeom prst="rect">
            <a:avLst/>
          </a:prstGeom>
          <a:solidFill>
            <a:srgbClr val="111827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2" name="Text"/>
          <p:cNvSpPr/>
          <p:nvPr/>
        </p:nvSpPr>
        <p:spPr>
          <a:xfrm>
            <a:off x="320040" y="3282696"/>
            <a:ext cx="457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"/>
          <p:cNvSpPr/>
          <p:nvPr/>
        </p:nvSpPr>
        <p:spPr>
          <a:xfrm>
            <a:off x="868680" y="3346703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Tanlash</a:t>
            </a:r>
            <a:endParaRPr lang="en-US" sz="1300" dirty="0"/>
          </a:p>
        </p:txBody>
      </p:sp>
      <p:sp>
        <p:nvSpPr>
          <p:cNvPr id="24" name="Text"/>
          <p:cNvSpPr/>
          <p:nvPr/>
        </p:nvSpPr>
        <p:spPr>
          <a:xfrm>
            <a:off x="868680" y="3648456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yo‘nalishdan eng yuqori ball to‘plagan 5 ta jamoa tanlab olinadi.</a:t>
            </a:r>
            <a:endParaRPr lang="en-US" sz="1050" dirty="0"/>
          </a:p>
        </p:txBody>
      </p:sp>
      <p:sp>
        <p:nvSpPr>
          <p:cNvPr id="25" name="Shape"/>
          <p:cNvSpPr/>
          <p:nvPr/>
        </p:nvSpPr>
        <p:spPr>
          <a:xfrm>
            <a:off x="7406640" y="868680"/>
            <a:ext cx="1508760" cy="3300984"/>
          </a:xfrm>
          <a:prstGeom prst="rect">
            <a:avLst/>
          </a:prstGeom>
          <a:solidFill>
            <a:srgbClr val="150A0A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6" name="Shape"/>
          <p:cNvSpPr/>
          <p:nvPr/>
        </p:nvSpPr>
        <p:spPr>
          <a:xfrm>
            <a:off x="7406640" y="868680"/>
            <a:ext cx="1508760" cy="5486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7" name="Text"/>
          <p:cNvSpPr/>
          <p:nvPr/>
        </p:nvSpPr>
        <p:spPr>
          <a:xfrm>
            <a:off x="7406640" y="137160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</a:t>
            </a:r>
            <a:endParaRPr lang="en-US" sz="1600" dirty="0"/>
          </a:p>
        </p:txBody>
      </p:sp>
      <p:sp>
        <p:nvSpPr>
          <p:cNvPr id="28" name="Text"/>
          <p:cNvSpPr/>
          <p:nvPr/>
        </p:nvSpPr>
        <p:spPr>
          <a:xfrm>
            <a:off x="7406640" y="182880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
JAMOA</a:t>
            </a:r>
            <a:endParaRPr lang="en-US" sz="3000" dirty="0"/>
          </a:p>
        </p:txBody>
      </p:sp>
      <p:sp>
        <p:nvSpPr>
          <p:cNvPr id="29" name="Shape"/>
          <p:cNvSpPr/>
          <p:nvPr/>
        </p:nvSpPr>
        <p:spPr>
          <a:xfrm>
            <a:off x="320040" y="4224528"/>
            <a:ext cx="8503920" cy="566928"/>
          </a:xfrm>
          <a:prstGeom prst="rect">
            <a:avLst/>
          </a:prstGeom>
          <a:solidFill>
            <a:srgbClr val="0F1520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0" name="Text"/>
          <p:cNvSpPr/>
          <p:nvPr/>
        </p:nvSpPr>
        <p:spPr>
          <a:xfrm>
            <a:off x="320040" y="42519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FINALISTLAR ROʼYXATI EʼLON QILINADI</a:t>
            </a:r>
            <a:endParaRPr lang="en-US" sz="1300" dirty="0"/>
          </a:p>
        </p:txBody>
      </p:sp>
      <p:sp>
        <p:nvSpPr>
          <p:cNvPr id="31" name="Text"/>
          <p:cNvSpPr/>
          <p:nvPr/>
        </p:nvSpPr>
        <p:spPr>
          <a:xfrm>
            <a:off x="5669280" y="42519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JAMOA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4892040"/>
            <a:ext cx="9144000" cy="182880"/>
          </a:xfrm>
          <a:prstGeom prst="rect">
            <a:avLst/>
          </a:prstGeom>
          <a:solidFill>
            <a:srgbClr val="E5534B">
              <a:alpha val="30000"/>
            </a:srgbClr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"/>
          <p:cNvSpPr/>
          <p:nvPr/>
        </p:nvSpPr>
        <p:spPr>
          <a:xfrm>
            <a:off x="45720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Bahsli Vaziyatlarni Hal Qilish</a:t>
            </a:r>
            <a:endParaRPr lang="en-US" sz="2600" dirty="0"/>
          </a:p>
        </p:txBody>
      </p:sp>
      <p:sp>
        <p:nvSpPr>
          <p:cNvPr id="4" name="Text"/>
          <p:cNvSpPr/>
          <p:nvPr/>
        </p:nvSpPr>
        <p:spPr>
          <a:xfrm>
            <a:off x="8229600" y="1371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400" dirty="0"/>
          </a:p>
        </p:txBody>
      </p:sp>
      <p:sp>
        <p:nvSpPr>
          <p:cNvPr id="5" name="Text"/>
          <p:cNvSpPr/>
          <p:nvPr/>
        </p:nvSpPr>
        <p:spPr>
          <a:xfrm>
            <a:off x="457200" y="71323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Ballar teng bo‘lganda, ustunlik quyidagi ketma-ketlikda aniqlanadi:</a:t>
            </a:r>
            <a:endParaRPr lang="en-US" sz="1200" dirty="0"/>
          </a:p>
        </p:txBody>
      </p:sp>
      <p:sp>
        <p:nvSpPr>
          <p:cNvPr id="6" name="Shape"/>
          <p:cNvSpPr/>
          <p:nvPr/>
        </p:nvSpPr>
        <p:spPr>
          <a:xfrm>
            <a:off x="320040" y="1097280"/>
            <a:ext cx="8503920" cy="768096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7" name="Shape"/>
          <p:cNvSpPr/>
          <p:nvPr/>
        </p:nvSpPr>
        <p:spPr>
          <a:xfrm>
            <a:off x="365760" y="1252728"/>
            <a:ext cx="457200" cy="45720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Text"/>
          <p:cNvSpPr/>
          <p:nvPr/>
        </p:nvSpPr>
        <p:spPr>
          <a:xfrm>
            <a:off x="365760" y="1252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"/>
          <p:cNvSpPr/>
          <p:nvPr/>
        </p:nvSpPr>
        <p:spPr>
          <a:xfrm>
            <a:off x="960120" y="11887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2-Checkpoint Balli</a:t>
            </a:r>
            <a:endParaRPr lang="en-US" sz="1400" dirty="0"/>
          </a:p>
        </p:txBody>
      </p:sp>
      <p:sp>
        <p:nvSpPr>
          <p:cNvPr id="10" name="Text"/>
          <p:cNvSpPr/>
          <p:nvPr/>
        </p:nvSpPr>
        <p:spPr>
          <a:xfrm>
            <a:off x="960120" y="155448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so‘nggi natija (eng muhim ko‘rsatkich)</a:t>
            </a:r>
            <a:endParaRPr lang="en-US" sz="1100" dirty="0"/>
          </a:p>
        </p:txBody>
      </p:sp>
      <p:sp>
        <p:nvSpPr>
          <p:cNvPr id="11" name="Shape"/>
          <p:cNvSpPr/>
          <p:nvPr/>
        </p:nvSpPr>
        <p:spPr>
          <a:xfrm>
            <a:off x="320040" y="1975104"/>
            <a:ext cx="8503920" cy="768096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2" name="Shape"/>
          <p:cNvSpPr/>
          <p:nvPr/>
        </p:nvSpPr>
        <p:spPr>
          <a:xfrm>
            <a:off x="365760" y="2130552"/>
            <a:ext cx="457200" cy="4572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3" name="Text"/>
          <p:cNvSpPr/>
          <p:nvPr/>
        </p:nvSpPr>
        <p:spPr>
          <a:xfrm>
            <a:off x="365760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"/>
          <p:cNvSpPr/>
          <p:nvPr/>
        </p:nvSpPr>
        <p:spPr>
          <a:xfrm>
            <a:off x="960120" y="206654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 Mentori Balli</a:t>
            </a:r>
            <a:endParaRPr lang="en-US" sz="1400" dirty="0"/>
          </a:p>
        </p:txBody>
      </p:sp>
      <p:sp>
        <p:nvSpPr>
          <p:cNvPr id="15" name="Text"/>
          <p:cNvSpPr/>
          <p:nvPr/>
        </p:nvSpPr>
        <p:spPr>
          <a:xfrm>
            <a:off x="960120" y="243230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Yo‘nalishga moslik va dolzarblik</a:t>
            </a:r>
            <a:endParaRPr lang="en-US" sz="1100" dirty="0"/>
          </a:p>
        </p:txBody>
      </p:sp>
      <p:sp>
        <p:nvSpPr>
          <p:cNvPr id="16" name="Shape"/>
          <p:cNvSpPr/>
          <p:nvPr/>
        </p:nvSpPr>
        <p:spPr>
          <a:xfrm>
            <a:off x="320040" y="2852928"/>
            <a:ext cx="8503920" cy="768096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7" name="Shape"/>
          <p:cNvSpPr/>
          <p:nvPr/>
        </p:nvSpPr>
        <p:spPr>
          <a:xfrm>
            <a:off x="365760" y="3008376"/>
            <a:ext cx="45720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8" name="Text"/>
          <p:cNvSpPr/>
          <p:nvPr/>
        </p:nvSpPr>
        <p:spPr>
          <a:xfrm>
            <a:off x="365760" y="30083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"/>
          <p:cNvSpPr/>
          <p:nvPr/>
        </p:nvSpPr>
        <p:spPr>
          <a:xfrm>
            <a:off x="960120" y="294436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Texnik Mentor Balli</a:t>
            </a:r>
            <a:endParaRPr lang="en-US" sz="1400" dirty="0"/>
          </a:p>
        </p:txBody>
      </p:sp>
      <p:sp>
        <p:nvSpPr>
          <p:cNvPr id="20" name="Text"/>
          <p:cNvSpPr/>
          <p:nvPr/>
        </p:nvSpPr>
        <p:spPr>
          <a:xfrm>
            <a:off x="960120" y="331012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Amalga oshirish sifati va kod</a:t>
            </a:r>
            <a:endParaRPr lang="en-US" sz="1100" dirty="0"/>
          </a:p>
        </p:txBody>
      </p:sp>
      <p:sp>
        <p:nvSpPr>
          <p:cNvPr id="21" name="Shape"/>
          <p:cNvSpPr/>
          <p:nvPr/>
        </p:nvSpPr>
        <p:spPr>
          <a:xfrm>
            <a:off x="320040" y="3730752"/>
            <a:ext cx="8503920" cy="768096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2" name="Shape"/>
          <p:cNvSpPr/>
          <p:nvPr/>
        </p:nvSpPr>
        <p:spPr>
          <a:xfrm>
            <a:off x="365760" y="3886200"/>
            <a:ext cx="457200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3" name="Text"/>
          <p:cNvSpPr/>
          <p:nvPr/>
        </p:nvSpPr>
        <p:spPr>
          <a:xfrm>
            <a:off x="36576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"/>
          <p:cNvSpPr/>
          <p:nvPr/>
        </p:nvSpPr>
        <p:spPr>
          <a:xfrm>
            <a:off x="960120" y="3822191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 Koordinatorning Qarori</a:t>
            </a:r>
            <a:endParaRPr lang="en-US" sz="1400" dirty="0"/>
          </a:p>
        </p:txBody>
      </p:sp>
      <p:sp>
        <p:nvSpPr>
          <p:cNvPr id="25" name="Text"/>
          <p:cNvSpPr/>
          <p:nvPr/>
        </p:nvSpPr>
        <p:spPr>
          <a:xfrm>
            <a:off x="960120" y="418795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Agar yuqoridagi barcha mezonlar teng bo‘lsa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E5534B">
              <a:alpha val="30000"/>
            </a:srgbClr>
          </a:solidFill>
          <a:ln w="12700">
            <a:solidFill>
              <a:srgbClr val="E5534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 1"/>
          <p:cNvSpPr/>
          <p:nvPr/>
        </p:nvSpPr>
        <p:spPr>
          <a:xfrm>
            <a:off x="8412480" y="1371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– 6 Iyun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Top-20 jamoa (har </a:t>
            </a:r>
            <a:r>
              <a:rPr lang="en-US" sz="12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</a:t>
            </a: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trekdan</a:t>
            </a: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 tadan) hakamlar hay'ati oldida o'z loyihalarini himoya qiladilar.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0604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57200" y="244144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Daqiqa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81635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Taqdimot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G'oya, yechim va biznes modelini qisqacha taqdim etish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1325880"/>
            <a:ext cx="260604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2" name="Text 10"/>
          <p:cNvSpPr/>
          <p:nvPr/>
        </p:nvSpPr>
        <p:spPr>
          <a:xfrm>
            <a:off x="3291840" y="146304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3291840" y="244144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Daqiqa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281635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320040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Mahsulotning ishlashini amalda namoyish qilish (MVP)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1325880"/>
            <a:ext cx="260604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Z"/>
          </a:p>
        </p:txBody>
      </p:sp>
      <p:sp>
        <p:nvSpPr>
          <p:cNvPr id="17" name="Text 15"/>
          <p:cNvSpPr/>
          <p:nvPr/>
        </p:nvSpPr>
        <p:spPr>
          <a:xfrm>
            <a:off x="6126480" y="146304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6126480" y="244144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Daqiqa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281635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Savol-Javob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320040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Hakamlar hay'ati savollariga aniq javob berish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913632"/>
            <a:ext cx="8229600" cy="566928"/>
          </a:xfrm>
          <a:prstGeom prst="rect">
            <a:avLst/>
          </a:prstGeom>
          <a:solidFill>
            <a:srgbClr val="0F1520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2" name="Text 20"/>
          <p:cNvSpPr/>
          <p:nvPr/>
        </p:nvSpPr>
        <p:spPr>
          <a:xfrm>
            <a:off x="457200" y="395935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&lt;total_time: 7 daqiqa / jamoa&gt;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608576"/>
            <a:ext cx="8229600" cy="310896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4" name="Text 22"/>
          <p:cNvSpPr/>
          <p:nvPr/>
        </p:nvSpPr>
        <p:spPr>
          <a:xfrm>
            <a:off x="457200" y="46268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G'OLIBLAR: Har </a:t>
            </a:r>
            <a:r>
              <a:rPr lang="en-US" sz="1000" dirty="0" err="1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</a:t>
            </a:r>
            <a:r>
              <a:rPr lang="en-US" sz="100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trekdan</a:t>
            </a:r>
            <a:r>
              <a:rPr lang="en-US" sz="100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 ta jamoa — 4 ta g'olib — Qimmatbaho sovg'alar  ·  Investitsiya  ·  Toshkent Finaliga yo'llanma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4892040"/>
            <a:ext cx="9144000" cy="182880"/>
          </a:xfrm>
          <a:prstGeom prst="rect">
            <a:avLst/>
          </a:prstGeom>
          <a:solidFill>
            <a:srgbClr val="E5534B">
              <a:alpha val="30000"/>
            </a:srgbClr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"/>
          <p:cNvSpPr/>
          <p:nvPr/>
        </p:nvSpPr>
        <p:spPr>
          <a:xfrm>
            <a:off x="45720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Andijon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Bosqichida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Gʼoliblar</a:t>
            </a:r>
            <a:endParaRPr lang="en-US" sz="2600" dirty="0"/>
          </a:p>
        </p:txBody>
      </p:sp>
      <p:sp>
        <p:nvSpPr>
          <p:cNvPr id="4" name="Text"/>
          <p:cNvSpPr/>
          <p:nvPr/>
        </p:nvSpPr>
        <p:spPr>
          <a:xfrm>
            <a:off x="8229600" y="1371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400" dirty="0"/>
          </a:p>
        </p:txBody>
      </p:sp>
      <p:sp>
        <p:nvSpPr>
          <p:cNvPr id="5" name="Shape"/>
          <p:cNvSpPr/>
          <p:nvPr/>
        </p:nvSpPr>
        <p:spPr>
          <a:xfrm>
            <a:off x="320040" y="804672"/>
            <a:ext cx="2377440" cy="3931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"/>
          <p:cNvSpPr/>
          <p:nvPr/>
        </p:nvSpPr>
        <p:spPr>
          <a:xfrm>
            <a:off x="320040" y="100584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0" dirty="0"/>
          </a:p>
        </p:txBody>
      </p:sp>
      <p:sp>
        <p:nvSpPr>
          <p:cNvPr id="7" name="Text"/>
          <p:cNvSpPr/>
          <p:nvPr/>
        </p:nvSpPr>
        <p:spPr>
          <a:xfrm>
            <a:off x="320040" y="29260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GʼOLIB</a:t>
            </a:r>
            <a:endParaRPr lang="en-US" sz="1800" dirty="0"/>
          </a:p>
        </p:txBody>
      </p:sp>
      <p:sp>
        <p:nvSpPr>
          <p:cNvPr id="8" name="Text"/>
          <p:cNvSpPr/>
          <p:nvPr/>
        </p:nvSpPr>
        <p:spPr>
          <a:xfrm>
            <a:off x="320040" y="340156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yo‘nalishdan
bitta eng yaxshi jamoa</a:t>
            </a:r>
            <a:endParaRPr lang="en-US" sz="1000" dirty="0"/>
          </a:p>
        </p:txBody>
      </p:sp>
      <p:sp>
        <p:nvSpPr>
          <p:cNvPr id="9" name="Shape"/>
          <p:cNvSpPr/>
          <p:nvPr/>
        </p:nvSpPr>
        <p:spPr>
          <a:xfrm>
            <a:off x="2880360" y="896112"/>
            <a:ext cx="59436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Shape"/>
          <p:cNvSpPr/>
          <p:nvPr/>
        </p:nvSpPr>
        <p:spPr>
          <a:xfrm>
            <a:off x="2880360" y="896112"/>
            <a:ext cx="54864" cy="658368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1" name="Text"/>
          <p:cNvSpPr/>
          <p:nvPr/>
        </p:nvSpPr>
        <p:spPr>
          <a:xfrm>
            <a:off x="2971800" y="1051560"/>
            <a:ext cx="5715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Tibbiyot Yo‘nalishi</a:t>
            </a:r>
            <a:endParaRPr lang="en-US" sz="1250" dirty="0"/>
          </a:p>
        </p:txBody>
      </p:sp>
      <p:sp>
        <p:nvSpPr>
          <p:cNvPr id="12" name="Shape"/>
          <p:cNvSpPr/>
          <p:nvPr/>
        </p:nvSpPr>
        <p:spPr>
          <a:xfrm>
            <a:off x="2880360" y="1700784"/>
            <a:ext cx="59436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3" name="Shape"/>
          <p:cNvSpPr/>
          <p:nvPr/>
        </p:nvSpPr>
        <p:spPr>
          <a:xfrm>
            <a:off x="2880360" y="1700784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4" name="Text"/>
          <p:cNvSpPr/>
          <p:nvPr/>
        </p:nvSpPr>
        <p:spPr>
          <a:xfrm>
            <a:off x="2971800" y="1856231"/>
            <a:ext cx="5715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Tadbirkorlik Yo‘nalishi</a:t>
            </a:r>
            <a:endParaRPr lang="en-US" sz="1250" dirty="0"/>
          </a:p>
        </p:txBody>
      </p:sp>
      <p:sp>
        <p:nvSpPr>
          <p:cNvPr id="15" name="Shape"/>
          <p:cNvSpPr/>
          <p:nvPr/>
        </p:nvSpPr>
        <p:spPr>
          <a:xfrm>
            <a:off x="2880360" y="2505456"/>
            <a:ext cx="59436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6" name="Shape"/>
          <p:cNvSpPr/>
          <p:nvPr/>
        </p:nvSpPr>
        <p:spPr>
          <a:xfrm>
            <a:off x="2880360" y="2505456"/>
            <a:ext cx="54864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7" name="Text"/>
          <p:cNvSpPr/>
          <p:nvPr/>
        </p:nvSpPr>
        <p:spPr>
          <a:xfrm>
            <a:off x="2971800" y="2660904"/>
            <a:ext cx="5715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Ta‘lim Yo‘nalishi</a:t>
            </a:r>
            <a:endParaRPr lang="en-US" sz="1250" dirty="0"/>
          </a:p>
        </p:txBody>
      </p:sp>
      <p:sp>
        <p:nvSpPr>
          <p:cNvPr id="40" name="Shape Kosmik BG"/>
          <p:cNvSpPr/>
          <p:nvPr/>
        </p:nvSpPr>
        <p:spPr>
          <a:xfrm>
            <a:off x="2880360" y="3329824"/>
            <a:ext cx="59436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1" name="Shape Kosmik Accent"/>
          <p:cNvSpPr/>
          <p:nvPr/>
        </p:nvSpPr>
        <p:spPr>
          <a:xfrm>
            <a:off x="2880360" y="3329824"/>
            <a:ext cx="54864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2" name="Text Kosmik"/>
          <p:cNvSpPr/>
          <p:nvPr/>
        </p:nvSpPr>
        <p:spPr>
          <a:xfrm>
            <a:off x="2971800" y="3485272"/>
            <a:ext cx="5715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Sud Tizimi Yo‘nalishi</a:t>
            </a:r>
            <a:endParaRPr lang="en-US" sz="1250" dirty="0"/>
          </a:p>
        </p:txBody>
      </p:sp>
      <p:sp>
        <p:nvSpPr>
          <p:cNvPr id="21" name="Shape"/>
          <p:cNvSpPr/>
          <p:nvPr/>
        </p:nvSpPr>
        <p:spPr>
          <a:xfrm>
            <a:off x="2880360" y="4187952"/>
            <a:ext cx="18288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2" name="Text"/>
          <p:cNvSpPr/>
          <p:nvPr/>
        </p:nvSpPr>
        <p:spPr>
          <a:xfrm>
            <a:off x="2880360" y="4187952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Qimmatbaho
Sovg‘alar</a:t>
            </a:r>
            <a:endParaRPr lang="en-US" sz="1000" dirty="0"/>
          </a:p>
        </p:txBody>
      </p:sp>
      <p:sp>
        <p:nvSpPr>
          <p:cNvPr id="23" name="Shape"/>
          <p:cNvSpPr/>
          <p:nvPr/>
        </p:nvSpPr>
        <p:spPr>
          <a:xfrm>
            <a:off x="4873752" y="4187952"/>
            <a:ext cx="18288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4" name="Text"/>
          <p:cNvSpPr/>
          <p:nvPr/>
        </p:nvSpPr>
        <p:spPr>
          <a:xfrm>
            <a:off x="4873752" y="4187952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Investitsiya
Jalb Qilish</a:t>
            </a:r>
            <a:endParaRPr lang="en-US" sz="1000" dirty="0"/>
          </a:p>
        </p:txBody>
      </p:sp>
      <p:sp>
        <p:nvSpPr>
          <p:cNvPr id="25" name="Shape"/>
          <p:cNvSpPr/>
          <p:nvPr/>
        </p:nvSpPr>
        <p:spPr>
          <a:xfrm>
            <a:off x="6867144" y="4187952"/>
            <a:ext cx="18288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6" name="Text"/>
          <p:cNvSpPr/>
          <p:nvPr/>
        </p:nvSpPr>
        <p:spPr>
          <a:xfrm>
            <a:off x="6867144" y="4187952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Toshkent Finaliga
Yo‘lanma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4892040"/>
            <a:ext cx="9144000" cy="182880"/>
          </a:xfrm>
          <a:prstGeom prst="rect">
            <a:avLst/>
          </a:prstGeom>
          <a:solidFill>
            <a:srgbClr val="E5534B">
              <a:alpha val="30000"/>
            </a:srgbClr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"/>
          <p:cNvSpPr/>
          <p:nvPr/>
        </p:nvSpPr>
        <p:spPr>
          <a:xfrm>
            <a:off x="45720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Toshkent Finaliga Yo‘l</a:t>
            </a:r>
            <a:endParaRPr lang="en-US" sz="2600" dirty="0"/>
          </a:p>
        </p:txBody>
      </p:sp>
      <p:sp>
        <p:nvSpPr>
          <p:cNvPr id="4" name="Text"/>
          <p:cNvSpPr/>
          <p:nvPr/>
        </p:nvSpPr>
        <p:spPr>
          <a:xfrm>
            <a:off x="8229600" y="1371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400" dirty="0"/>
          </a:p>
        </p:txBody>
      </p:sp>
      <p:sp>
        <p:nvSpPr>
          <p:cNvPr id="5" name="Shape"/>
          <p:cNvSpPr/>
          <p:nvPr/>
        </p:nvSpPr>
        <p:spPr>
          <a:xfrm>
            <a:off x="320040" y="804672"/>
            <a:ext cx="52120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Text"/>
          <p:cNvSpPr/>
          <p:nvPr/>
        </p:nvSpPr>
        <p:spPr>
          <a:xfrm>
            <a:off x="45720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BOARDING PASS // FINALIST</a:t>
            </a:r>
            <a:endParaRPr lang="en-US" sz="900" dirty="0"/>
          </a:p>
        </p:txBody>
      </p:sp>
      <p:sp>
        <p:nvSpPr>
          <p:cNvPr id="7" name="Text"/>
          <p:cNvSpPr/>
          <p:nvPr/>
        </p:nvSpPr>
        <p:spPr>
          <a:xfrm>
            <a:off x="457200" y="1261872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ANDIJON</a:t>
            </a:r>
            <a:endParaRPr lang="en-US" sz="1900" dirty="0"/>
          </a:p>
        </p:txBody>
      </p:sp>
      <p:sp>
        <p:nvSpPr>
          <p:cNvPr id="8" name="Text"/>
          <p:cNvSpPr/>
          <p:nvPr/>
        </p:nvSpPr>
        <p:spPr>
          <a:xfrm>
            <a:off x="2743200" y="13716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Text"/>
          <p:cNvSpPr/>
          <p:nvPr/>
        </p:nvSpPr>
        <p:spPr>
          <a:xfrm>
            <a:off x="3291840" y="126187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TOSHKENT</a:t>
            </a:r>
            <a:endParaRPr lang="en-US" sz="1900" dirty="0"/>
          </a:p>
        </p:txBody>
      </p:sp>
      <p:sp>
        <p:nvSpPr>
          <p:cNvPr id="10" name="Text"/>
          <p:cNvSpPr/>
          <p:nvPr/>
        </p:nvSpPr>
        <p:spPr>
          <a:xfrm>
            <a:off x="457200" y="21031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00" dirty="0"/>
          </a:p>
        </p:txBody>
      </p:sp>
      <p:sp>
        <p:nvSpPr>
          <p:cNvPr id="11" name="Text"/>
          <p:cNvSpPr/>
          <p:nvPr/>
        </p:nvSpPr>
        <p:spPr>
          <a:xfrm>
            <a:off x="457200" y="2331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2026</a:t>
            </a:r>
            <a:endParaRPr lang="en-US" sz="1050" dirty="0"/>
          </a:p>
        </p:txBody>
      </p:sp>
      <p:sp>
        <p:nvSpPr>
          <p:cNvPr id="12" name="Text"/>
          <p:cNvSpPr/>
          <p:nvPr/>
        </p:nvSpPr>
        <p:spPr>
          <a:xfrm>
            <a:off x="1645920" y="2103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800" dirty="0"/>
          </a:p>
        </p:txBody>
      </p:sp>
      <p:sp>
        <p:nvSpPr>
          <p:cNvPr id="13" name="Text"/>
          <p:cNvSpPr/>
          <p:nvPr/>
        </p:nvSpPr>
        <p:spPr>
          <a:xfrm>
            <a:off x="1645920" y="2331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AI HACKATHON</a:t>
            </a:r>
            <a:endParaRPr lang="en-US" sz="1000" dirty="0"/>
          </a:p>
        </p:txBody>
      </p:sp>
      <p:sp>
        <p:nvSpPr>
          <p:cNvPr id="14" name="Text"/>
          <p:cNvSpPr/>
          <p:nvPr/>
        </p:nvSpPr>
        <p:spPr>
          <a:xfrm>
            <a:off x="4114800" y="21031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800" dirty="0"/>
          </a:p>
        </p:txBody>
      </p:sp>
      <p:sp>
        <p:nvSpPr>
          <p:cNvPr id="15" name="Text"/>
          <p:cNvSpPr/>
          <p:nvPr/>
        </p:nvSpPr>
        <p:spPr>
          <a:xfrm>
            <a:off x="4114800" y="23317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</a:t>
            </a:r>
            <a:endParaRPr lang="en-US" sz="1050" dirty="0"/>
          </a:p>
        </p:txBody>
      </p:sp>
      <p:sp>
        <p:nvSpPr>
          <p:cNvPr id="16" name="Shape"/>
          <p:cNvSpPr/>
          <p:nvPr/>
        </p:nvSpPr>
        <p:spPr>
          <a:xfrm>
            <a:off x="5029200" y="804672"/>
            <a:ext cx="658368" cy="228600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7" name="Text"/>
          <p:cNvSpPr/>
          <p:nvPr/>
        </p:nvSpPr>
        <p:spPr>
          <a:xfrm>
            <a:off x="5029200" y="1188720"/>
            <a:ext cx="6583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100" dirty="0"/>
          </a:p>
        </p:txBody>
      </p:sp>
      <p:sp>
        <p:nvSpPr>
          <p:cNvPr id="18" name="Text"/>
          <p:cNvSpPr/>
          <p:nvPr/>
        </p:nvSpPr>
        <p:spPr>
          <a:xfrm>
            <a:off x="5029200" y="1645920"/>
            <a:ext cx="6583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19" name="Shape"/>
          <p:cNvSpPr/>
          <p:nvPr/>
        </p:nvSpPr>
        <p:spPr>
          <a:xfrm>
            <a:off x="5669280" y="850392"/>
            <a:ext cx="347472" cy="34747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0" name="Text"/>
          <p:cNvSpPr/>
          <p:nvPr/>
        </p:nvSpPr>
        <p:spPr>
          <a:xfrm>
            <a:off x="6080760" y="85039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Respublika Qamrovi</a:t>
            </a:r>
            <a:endParaRPr lang="en-US" sz="1200" dirty="0"/>
          </a:p>
        </p:txBody>
      </p:sp>
      <p:sp>
        <p:nvSpPr>
          <p:cNvPr id="21" name="Text"/>
          <p:cNvSpPr/>
          <p:nvPr/>
        </p:nvSpPr>
        <p:spPr>
          <a:xfrm>
            <a:off x="6080760" y="124358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Butun mamlakatning eng yaxshi jamoalari bilan raqobat va hamkorlik.</a:t>
            </a:r>
            <a:endParaRPr lang="en-US" sz="1000" dirty="0"/>
          </a:p>
        </p:txBody>
      </p:sp>
      <p:sp>
        <p:nvSpPr>
          <p:cNvPr id="22" name="Shape"/>
          <p:cNvSpPr/>
          <p:nvPr/>
        </p:nvSpPr>
        <p:spPr>
          <a:xfrm>
            <a:off x="5669280" y="1856231"/>
            <a:ext cx="347472" cy="34747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3" name="Text"/>
          <p:cNvSpPr/>
          <p:nvPr/>
        </p:nvSpPr>
        <p:spPr>
          <a:xfrm>
            <a:off x="6080760" y="1856231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Xalqaro Hakamlar</a:t>
            </a:r>
            <a:endParaRPr lang="en-US" sz="1200" dirty="0"/>
          </a:p>
        </p:txBody>
      </p:sp>
      <p:sp>
        <p:nvSpPr>
          <p:cNvPr id="24" name="Text"/>
          <p:cNvSpPr/>
          <p:nvPr/>
        </p:nvSpPr>
        <p:spPr>
          <a:xfrm>
            <a:off x="6080760" y="224942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Jahon darajasidagi ekspertlar oldida o‘z loyihangizni taqdim etish.</a:t>
            </a:r>
            <a:endParaRPr lang="en-US" sz="1000" dirty="0"/>
          </a:p>
        </p:txBody>
      </p:sp>
      <p:sp>
        <p:nvSpPr>
          <p:cNvPr id="25" name="Shape"/>
          <p:cNvSpPr/>
          <p:nvPr/>
        </p:nvSpPr>
        <p:spPr>
          <a:xfrm>
            <a:off x="5669280" y="2862072"/>
            <a:ext cx="347472" cy="34747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6" name="Text"/>
          <p:cNvSpPr/>
          <p:nvPr/>
        </p:nvSpPr>
        <p:spPr>
          <a:xfrm>
            <a:off x="6080760" y="286207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Katta Investitsiyalar</a:t>
            </a:r>
            <a:endParaRPr lang="en-US" sz="1200" dirty="0"/>
          </a:p>
        </p:txBody>
      </p:sp>
      <p:sp>
        <p:nvSpPr>
          <p:cNvPr id="27" name="Text"/>
          <p:cNvSpPr/>
          <p:nvPr/>
        </p:nvSpPr>
        <p:spPr>
          <a:xfrm>
            <a:off x="6080760" y="325526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Loyihani masshtablashtirish uchun real mablag‘ jalb qilish imkoniyati.</a:t>
            </a:r>
            <a:endParaRPr lang="en-US" sz="1000" dirty="0"/>
          </a:p>
        </p:txBody>
      </p:sp>
      <p:sp>
        <p:nvSpPr>
          <p:cNvPr id="28" name="Shape"/>
          <p:cNvSpPr/>
          <p:nvPr/>
        </p:nvSpPr>
        <p:spPr>
          <a:xfrm>
            <a:off x="5669280" y="3867912"/>
            <a:ext cx="347472" cy="347472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9" name="Text"/>
          <p:cNvSpPr/>
          <p:nvPr/>
        </p:nvSpPr>
        <p:spPr>
          <a:xfrm>
            <a:off x="6080760" y="38679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Karyera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Boshlanishi</a:t>
            </a:r>
            <a:endParaRPr lang="en-US" sz="1200" dirty="0"/>
          </a:p>
        </p:txBody>
      </p:sp>
      <p:sp>
        <p:nvSpPr>
          <p:cNvPr id="30" name="Text"/>
          <p:cNvSpPr/>
          <p:nvPr/>
        </p:nvSpPr>
        <p:spPr>
          <a:xfrm>
            <a:off x="6080760" y="426110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Yetakchi kompaniyalarda ishlash va o‘z startapingizni qurish.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4892040"/>
            <a:ext cx="9144000" cy="182880"/>
          </a:xfrm>
          <a:prstGeom prst="rect">
            <a:avLst/>
          </a:prstGeom>
          <a:solidFill>
            <a:srgbClr val="E5534B">
              <a:alpha val="30000"/>
            </a:srgbClr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"/>
          <p:cNvSpPr/>
          <p:nvPr/>
        </p:nvSpPr>
        <p:spPr>
          <a:xfrm>
            <a:off x="45720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Mentorlar - Sizning Yo‘ldoshingiz</a:t>
            </a:r>
            <a:endParaRPr lang="en-US" sz="2600" dirty="0"/>
          </a:p>
        </p:txBody>
      </p:sp>
      <p:sp>
        <p:nvSpPr>
          <p:cNvPr id="4" name="Text"/>
          <p:cNvSpPr/>
          <p:nvPr/>
        </p:nvSpPr>
        <p:spPr>
          <a:xfrm>
            <a:off x="8229600" y="1371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400" dirty="0"/>
          </a:p>
        </p:txBody>
      </p:sp>
      <p:sp>
        <p:nvSpPr>
          <p:cNvPr id="5" name="Shape"/>
          <p:cNvSpPr/>
          <p:nvPr/>
        </p:nvSpPr>
        <p:spPr>
          <a:xfrm>
            <a:off x="320040" y="804672"/>
            <a:ext cx="4160520" cy="1874519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Shape"/>
          <p:cNvSpPr/>
          <p:nvPr/>
        </p:nvSpPr>
        <p:spPr>
          <a:xfrm>
            <a:off x="320040" y="804672"/>
            <a:ext cx="4160520" cy="5486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7" name="Text"/>
          <p:cNvSpPr/>
          <p:nvPr/>
        </p:nvSpPr>
        <p:spPr>
          <a:xfrm>
            <a:off x="457200" y="941832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Mentor Sessiyalari</a:t>
            </a:r>
            <a:endParaRPr lang="en-US" sz="1250" dirty="0"/>
          </a:p>
        </p:txBody>
      </p:sp>
      <p:sp>
        <p:nvSpPr>
          <p:cNvPr id="8" name="Text"/>
          <p:cNvSpPr/>
          <p:nvPr/>
        </p:nvSpPr>
        <p:spPr>
          <a:xfrm>
            <a:off x="457200" y="1371600"/>
            <a:ext cx="388620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check pointdan oldin mentorlar bilan tayyorgarlik uchun uchrashuvlar. Yechimni to‘g‘ri yo‘naltirish imkoniyati.</a:t>
            </a:r>
            <a:endParaRPr lang="en-US" sz="1050" dirty="0"/>
          </a:p>
        </p:txBody>
      </p:sp>
      <p:sp>
        <p:nvSpPr>
          <p:cNvPr id="9" name="Shape"/>
          <p:cNvSpPr/>
          <p:nvPr/>
        </p:nvSpPr>
        <p:spPr>
          <a:xfrm>
            <a:off x="4663440" y="804672"/>
            <a:ext cx="4160520" cy="1874519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Shape"/>
          <p:cNvSpPr/>
          <p:nvPr/>
        </p:nvSpPr>
        <p:spPr>
          <a:xfrm>
            <a:off x="4663440" y="804672"/>
            <a:ext cx="416052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1" name="Text"/>
          <p:cNvSpPr/>
          <p:nvPr/>
        </p:nvSpPr>
        <p:spPr>
          <a:xfrm>
            <a:off x="4800600" y="941832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🧑‍💻 Mahorat Darslari</a:t>
            </a:r>
            <a:endParaRPr lang="en-US" sz="1250" dirty="0"/>
          </a:p>
        </p:txBody>
      </p:sp>
      <p:sp>
        <p:nvSpPr>
          <p:cNvPr id="12" name="Text"/>
          <p:cNvSpPr/>
          <p:nvPr/>
        </p:nvSpPr>
        <p:spPr>
          <a:xfrm>
            <a:off x="4800600" y="1371600"/>
            <a:ext cx="388620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sohasidagi yetakchi mutaxassislar bilan seminarlar va treninglar. Yangi bilim va ko‘nikmalarni o‘rganish.</a:t>
            </a:r>
            <a:endParaRPr lang="en-US" sz="1050" dirty="0"/>
          </a:p>
        </p:txBody>
      </p:sp>
      <p:sp>
        <p:nvSpPr>
          <p:cNvPr id="13" name="Shape"/>
          <p:cNvSpPr/>
          <p:nvPr/>
        </p:nvSpPr>
        <p:spPr>
          <a:xfrm>
            <a:off x="320040" y="2862072"/>
            <a:ext cx="4160520" cy="1874519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4" name="Shape"/>
          <p:cNvSpPr/>
          <p:nvPr/>
        </p:nvSpPr>
        <p:spPr>
          <a:xfrm>
            <a:off x="320040" y="2862072"/>
            <a:ext cx="416052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5" name="Text"/>
          <p:cNvSpPr/>
          <p:nvPr/>
        </p:nvSpPr>
        <p:spPr>
          <a:xfrm>
            <a:off x="457200" y="2999232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Tekshirish va Maslahat</a:t>
            </a:r>
            <a:endParaRPr lang="en-US" sz="1250" dirty="0"/>
          </a:p>
        </p:txBody>
      </p:sp>
      <p:sp>
        <p:nvSpPr>
          <p:cNvPr id="16" name="Text"/>
          <p:cNvSpPr/>
          <p:nvPr/>
        </p:nvSpPr>
        <p:spPr>
          <a:xfrm>
            <a:off x="457200" y="3429000"/>
            <a:ext cx="388620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Mentorlar jamoaning loyihasini chuqur tahlil qiladi, xatolarni ko‘rsatadi va ularni tuzatish bo‘yicha aniq maslahat beradi.</a:t>
            </a:r>
            <a:endParaRPr lang="en-US" sz="1050" dirty="0"/>
          </a:p>
        </p:txBody>
      </p:sp>
      <p:sp>
        <p:nvSpPr>
          <p:cNvPr id="17" name="Shape"/>
          <p:cNvSpPr/>
          <p:nvPr/>
        </p:nvSpPr>
        <p:spPr>
          <a:xfrm>
            <a:off x="4663440" y="2862072"/>
            <a:ext cx="4160520" cy="1874519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8" name="Shape"/>
          <p:cNvSpPr/>
          <p:nvPr/>
        </p:nvSpPr>
        <p:spPr>
          <a:xfrm>
            <a:off x="4663440" y="2862072"/>
            <a:ext cx="41605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9" name="Text"/>
          <p:cNvSpPr/>
          <p:nvPr/>
        </p:nvSpPr>
        <p:spPr>
          <a:xfrm>
            <a:off x="4800600" y="2999232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Raqamli Resurslar</a:t>
            </a:r>
            <a:endParaRPr lang="en-US" sz="1250" dirty="0"/>
          </a:p>
        </p:txBody>
      </p:sp>
      <p:sp>
        <p:nvSpPr>
          <p:cNvPr id="20" name="Text"/>
          <p:cNvSpPr/>
          <p:nvPr/>
        </p:nvSpPr>
        <p:spPr>
          <a:xfrm>
            <a:off x="4800600" y="3429000"/>
            <a:ext cx="388620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Zamonaviy texnologiyalar, freymvorklar va vositalardan samarali foydalanish bo‘yicha amaliy ko‘rsatmalar.</a:t>
            </a:r>
            <a:endParaRPr lang="en-US" sz="1050" dirty="0"/>
          </a:p>
        </p:txBody>
      </p:sp>
      <p:sp>
        <p:nvSpPr>
          <p:cNvPr id="21" name="Text"/>
          <p:cNvSpPr/>
          <p:nvPr/>
        </p:nvSpPr>
        <p:spPr>
          <a:xfrm>
            <a:off x="228600" y="484174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“Mentorlar sizning muvaffaqiyatingizdan manfaatdor. Ularning tajribasidan maksimal darajada foydalaning.”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4892040"/>
            <a:ext cx="9144000" cy="182880"/>
          </a:xfrm>
          <a:prstGeom prst="rect">
            <a:avLst/>
          </a:prstGeom>
          <a:solidFill>
            <a:srgbClr val="E5534B">
              <a:alpha val="30000"/>
            </a:srgbClr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"/>
          <p:cNvSpPr/>
          <p:nvPr/>
        </p:nvSpPr>
        <p:spPr>
          <a:xfrm>
            <a:off x="45720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Tayyorgarlik Checklist</a:t>
            </a:r>
            <a:endParaRPr lang="en-US" sz="2600" dirty="0"/>
          </a:p>
        </p:txBody>
      </p:sp>
      <p:sp>
        <p:nvSpPr>
          <p:cNvPr id="4" name="Text"/>
          <p:cNvSpPr/>
          <p:nvPr/>
        </p:nvSpPr>
        <p:spPr>
          <a:xfrm>
            <a:off x="8229600" y="1371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400" dirty="0"/>
          </a:p>
        </p:txBody>
      </p:sp>
      <p:sp>
        <p:nvSpPr>
          <p:cNvPr id="5" name="Shape"/>
          <p:cNvSpPr/>
          <p:nvPr/>
        </p:nvSpPr>
        <p:spPr>
          <a:xfrm>
            <a:off x="320040" y="804672"/>
            <a:ext cx="4160520" cy="3977639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Shape"/>
          <p:cNvSpPr/>
          <p:nvPr/>
        </p:nvSpPr>
        <p:spPr>
          <a:xfrm>
            <a:off x="320040" y="804672"/>
            <a:ext cx="416052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7" name="Text"/>
          <p:cNvSpPr/>
          <p:nvPr/>
        </p:nvSpPr>
        <p:spPr>
          <a:xfrm>
            <a:off x="457200" y="89611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</a:t>
            </a:r>
            <a:endParaRPr lang="en-US" sz="1400" dirty="0"/>
          </a:p>
        </p:txBody>
      </p:sp>
      <p:sp>
        <p:nvSpPr>
          <p:cNvPr id="8" name="Text"/>
          <p:cNvSpPr/>
          <p:nvPr/>
        </p:nvSpPr>
        <p:spPr>
          <a:xfrm>
            <a:off x="896112" y="8961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Texnik Taʼminot</a:t>
            </a:r>
            <a:endParaRPr lang="en-US" sz="1400" dirty="0"/>
          </a:p>
        </p:txBody>
      </p:sp>
      <p:sp>
        <p:nvSpPr>
          <p:cNvPr id="9" name="Shape"/>
          <p:cNvSpPr/>
          <p:nvPr/>
        </p:nvSpPr>
        <p:spPr>
          <a:xfrm>
            <a:off x="457200" y="1408176"/>
            <a:ext cx="292608" cy="292608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Text"/>
          <p:cNvSpPr/>
          <p:nvPr/>
        </p:nvSpPr>
        <p:spPr>
          <a:xfrm>
            <a:off x="457200" y="14081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00" dirty="0"/>
          </a:p>
        </p:txBody>
      </p:sp>
      <p:sp>
        <p:nvSpPr>
          <p:cNvPr id="11" name="Text"/>
          <p:cNvSpPr/>
          <p:nvPr/>
        </p:nvSpPr>
        <p:spPr>
          <a:xfrm>
            <a:off x="822960" y="140817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Noutbuk va Zaryadlovchi</a:t>
            </a:r>
            <a:endParaRPr lang="en-US" sz="1200" dirty="0"/>
          </a:p>
        </p:txBody>
      </p:sp>
      <p:sp>
        <p:nvSpPr>
          <p:cNvPr id="12" name="Text"/>
          <p:cNvSpPr/>
          <p:nvPr/>
        </p:nvSpPr>
        <p:spPr>
          <a:xfrm>
            <a:off x="822960" y="170078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Ishchi holatda ekanligini tekshiring. Zaryadlovchi qurilmani unutmang.</a:t>
            </a:r>
            <a:endParaRPr lang="en-US" sz="1000" dirty="0"/>
          </a:p>
        </p:txBody>
      </p:sp>
      <p:sp>
        <p:nvSpPr>
          <p:cNvPr id="13" name="Shape"/>
          <p:cNvSpPr/>
          <p:nvPr/>
        </p:nvSpPr>
        <p:spPr>
          <a:xfrm>
            <a:off x="457200" y="2276856"/>
            <a:ext cx="292608" cy="292608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4" name="Text"/>
          <p:cNvSpPr/>
          <p:nvPr/>
        </p:nvSpPr>
        <p:spPr>
          <a:xfrm>
            <a:off x="457200" y="22768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00" dirty="0"/>
          </a:p>
        </p:txBody>
      </p:sp>
      <p:sp>
        <p:nvSpPr>
          <p:cNvPr id="15" name="Text"/>
          <p:cNvSpPr/>
          <p:nvPr/>
        </p:nvSpPr>
        <p:spPr>
          <a:xfrm>
            <a:off x="822960" y="22768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Dasturiy Muhit</a:t>
            </a:r>
            <a:endParaRPr lang="en-US" sz="1200" dirty="0"/>
          </a:p>
        </p:txBody>
      </p:sp>
      <p:sp>
        <p:nvSpPr>
          <p:cNvPr id="16" name="Text"/>
          <p:cNvSpPr/>
          <p:nvPr/>
        </p:nvSpPr>
        <p:spPr>
          <a:xfrm>
            <a:off x="822960" y="2569463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IDE, kutubxonalar va kerakli freymvorklarni oldindan oʼnatib oling (internetga ishonmang).</a:t>
            </a:r>
            <a:endParaRPr lang="en-US" sz="1000" dirty="0"/>
          </a:p>
        </p:txBody>
      </p:sp>
      <p:sp>
        <p:nvSpPr>
          <p:cNvPr id="17" name="Shape"/>
          <p:cNvSpPr/>
          <p:nvPr/>
        </p:nvSpPr>
        <p:spPr>
          <a:xfrm>
            <a:off x="457200" y="3145536"/>
            <a:ext cx="292608" cy="292608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8" name="Text"/>
          <p:cNvSpPr/>
          <p:nvPr/>
        </p:nvSpPr>
        <p:spPr>
          <a:xfrm>
            <a:off x="457200" y="31455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00" dirty="0"/>
          </a:p>
        </p:txBody>
      </p:sp>
      <p:sp>
        <p:nvSpPr>
          <p:cNvPr id="19" name="Text"/>
          <p:cNvSpPr/>
          <p:nvPr/>
        </p:nvSpPr>
        <p:spPr>
          <a:xfrm>
            <a:off x="822960" y="314553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Qoʼshimcha Qurilmalar</a:t>
            </a:r>
            <a:endParaRPr lang="en-US" sz="1200" dirty="0"/>
          </a:p>
        </p:txBody>
      </p:sp>
      <p:sp>
        <p:nvSpPr>
          <p:cNvPr id="20" name="Text"/>
          <p:cNvSpPr/>
          <p:nvPr/>
        </p:nvSpPr>
        <p:spPr>
          <a:xfrm>
            <a:off x="822960" y="343814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Uzaytirgich (udlinitel), sichqoncha va kerak boʼlsa tashqi monitor.</a:t>
            </a:r>
            <a:endParaRPr lang="en-US" sz="1000" dirty="0"/>
          </a:p>
        </p:txBody>
      </p:sp>
      <p:sp>
        <p:nvSpPr>
          <p:cNvPr id="21" name="Shape"/>
          <p:cNvSpPr/>
          <p:nvPr/>
        </p:nvSpPr>
        <p:spPr>
          <a:xfrm>
            <a:off x="320040" y="4041648"/>
            <a:ext cx="4160520" cy="566928"/>
          </a:xfrm>
          <a:prstGeom prst="rect">
            <a:avLst/>
          </a:prstGeom>
          <a:solidFill>
            <a:srgbClr val="0F1010"/>
          </a:solidFill>
          <a:ln w="12700">
            <a:solidFill>
              <a:srgbClr val="2D3A50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2" name="Shape"/>
          <p:cNvSpPr/>
          <p:nvPr/>
        </p:nvSpPr>
        <p:spPr>
          <a:xfrm>
            <a:off x="320040" y="804672"/>
            <a:ext cx="54864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3" name="Text"/>
          <p:cNvSpPr/>
          <p:nvPr/>
        </p:nvSpPr>
        <p:spPr>
          <a:xfrm>
            <a:off x="502920" y="411480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Maslahat: Internet uzilib qolishi ehtimoliga qarshi oflayn hujjatlarni yuklab oling.</a:t>
            </a:r>
            <a:endParaRPr lang="en-US" sz="950" dirty="0"/>
          </a:p>
        </p:txBody>
      </p:sp>
      <p:sp>
        <p:nvSpPr>
          <p:cNvPr id="24" name="Shape"/>
          <p:cNvSpPr/>
          <p:nvPr/>
        </p:nvSpPr>
        <p:spPr>
          <a:xfrm>
            <a:off x="4663440" y="804672"/>
            <a:ext cx="4160520" cy="3977639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5" name="Shape"/>
          <p:cNvSpPr/>
          <p:nvPr/>
        </p:nvSpPr>
        <p:spPr>
          <a:xfrm>
            <a:off x="4663440" y="804672"/>
            <a:ext cx="416052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6" name="Text"/>
          <p:cNvSpPr/>
          <p:nvPr/>
        </p:nvSpPr>
        <p:spPr>
          <a:xfrm>
            <a:off x="4800600" y="89611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400" dirty="0"/>
          </a:p>
        </p:txBody>
      </p:sp>
      <p:sp>
        <p:nvSpPr>
          <p:cNvPr id="27" name="Text"/>
          <p:cNvSpPr/>
          <p:nvPr/>
        </p:nvSpPr>
        <p:spPr>
          <a:xfrm>
            <a:off x="5239512" y="8961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Jamoaviy Ish</a:t>
            </a:r>
            <a:endParaRPr lang="en-US" sz="1400" dirty="0"/>
          </a:p>
        </p:txBody>
      </p:sp>
      <p:sp>
        <p:nvSpPr>
          <p:cNvPr id="28" name="Shape"/>
          <p:cNvSpPr/>
          <p:nvPr/>
        </p:nvSpPr>
        <p:spPr>
          <a:xfrm>
            <a:off x="4800600" y="1408176"/>
            <a:ext cx="292608" cy="292608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9" name="Text"/>
          <p:cNvSpPr/>
          <p:nvPr/>
        </p:nvSpPr>
        <p:spPr>
          <a:xfrm>
            <a:off x="4800600" y="14081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00" dirty="0"/>
          </a:p>
        </p:txBody>
      </p:sp>
      <p:sp>
        <p:nvSpPr>
          <p:cNvPr id="30" name="Text"/>
          <p:cNvSpPr/>
          <p:nvPr/>
        </p:nvSpPr>
        <p:spPr>
          <a:xfrm>
            <a:off x="5166360" y="140817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Gʼoyani Aniqlashtirish</a:t>
            </a:r>
            <a:endParaRPr lang="en-US" sz="1200" dirty="0"/>
          </a:p>
        </p:txBody>
      </p:sp>
      <p:sp>
        <p:nvSpPr>
          <p:cNvPr id="31" name="Text"/>
          <p:cNvSpPr/>
          <p:nvPr/>
        </p:nvSpPr>
        <p:spPr>
          <a:xfrm>
            <a:off x="5166360" y="170078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Xakatonga kelishdan oldin nima qilishingizni aniq bilib oling.</a:t>
            </a:r>
            <a:endParaRPr lang="en-US" sz="1000" dirty="0"/>
          </a:p>
        </p:txBody>
      </p:sp>
      <p:sp>
        <p:nvSpPr>
          <p:cNvPr id="32" name="Shape"/>
          <p:cNvSpPr/>
          <p:nvPr/>
        </p:nvSpPr>
        <p:spPr>
          <a:xfrm>
            <a:off x="4800600" y="2276856"/>
            <a:ext cx="292608" cy="292608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3" name="Text"/>
          <p:cNvSpPr/>
          <p:nvPr/>
        </p:nvSpPr>
        <p:spPr>
          <a:xfrm>
            <a:off x="4800600" y="22768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00" dirty="0"/>
          </a:p>
        </p:txBody>
      </p:sp>
      <p:sp>
        <p:nvSpPr>
          <p:cNvPr id="34" name="Text"/>
          <p:cNvSpPr/>
          <p:nvPr/>
        </p:nvSpPr>
        <p:spPr>
          <a:xfrm>
            <a:off x="5166360" y="22768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Rollar Taqsimoti</a:t>
            </a:r>
            <a:endParaRPr lang="en-US" sz="1200" dirty="0"/>
          </a:p>
        </p:txBody>
      </p:sp>
      <p:sp>
        <p:nvSpPr>
          <p:cNvPr id="35" name="Text"/>
          <p:cNvSpPr/>
          <p:nvPr/>
        </p:nvSpPr>
        <p:spPr>
          <a:xfrm>
            <a:off x="5166360" y="2569463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kod yozadi, kim dizayn qiladi, kim taqdimot tayyorlaydi — aniq boʼlsin.</a:t>
            </a:r>
            <a:endParaRPr lang="en-US" sz="1000" dirty="0"/>
          </a:p>
        </p:txBody>
      </p:sp>
      <p:sp>
        <p:nvSpPr>
          <p:cNvPr id="36" name="Shape"/>
          <p:cNvSpPr/>
          <p:nvPr/>
        </p:nvSpPr>
        <p:spPr>
          <a:xfrm>
            <a:off x="4800600" y="3145536"/>
            <a:ext cx="292608" cy="292608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7" name="Text"/>
          <p:cNvSpPr/>
          <p:nvPr/>
        </p:nvSpPr>
        <p:spPr>
          <a:xfrm>
            <a:off x="4800600" y="31455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00" dirty="0"/>
          </a:p>
        </p:txBody>
      </p:sp>
      <p:sp>
        <p:nvSpPr>
          <p:cNvPr id="38" name="Text"/>
          <p:cNvSpPr/>
          <p:nvPr/>
        </p:nvSpPr>
        <p:spPr>
          <a:xfrm>
            <a:off x="5166360" y="314553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Taqdimot Shablonlari</a:t>
            </a:r>
            <a:endParaRPr lang="en-US" sz="1200" dirty="0"/>
          </a:p>
        </p:txBody>
      </p:sp>
      <p:sp>
        <p:nvSpPr>
          <p:cNvPr id="39" name="Text"/>
          <p:cNvSpPr/>
          <p:nvPr/>
        </p:nvSpPr>
        <p:spPr>
          <a:xfrm>
            <a:off x="5166360" y="343814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uchun qoralama shablonlarni tayyorlab qoʼying.</a:t>
            </a:r>
            <a:endParaRPr lang="en-US" sz="1000" dirty="0"/>
          </a:p>
        </p:txBody>
      </p:sp>
      <p:sp>
        <p:nvSpPr>
          <p:cNvPr id="40" name="Shape"/>
          <p:cNvSpPr/>
          <p:nvPr/>
        </p:nvSpPr>
        <p:spPr>
          <a:xfrm>
            <a:off x="4663440" y="4041648"/>
            <a:ext cx="4160520" cy="566928"/>
          </a:xfrm>
          <a:prstGeom prst="rect">
            <a:avLst/>
          </a:prstGeom>
          <a:solidFill>
            <a:srgbClr val="0F1010"/>
          </a:solidFill>
          <a:ln w="12700">
            <a:solidFill>
              <a:srgbClr val="2D3A50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1" name="Text"/>
          <p:cNvSpPr/>
          <p:nvPr/>
        </p:nvSpPr>
        <p:spPr>
          <a:xfrm>
            <a:off x="4846320" y="411480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Maslahat: Jamoaning har bir aʼzosi oʼz vazifasini bilsa, vaqt tejaladi.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4892040"/>
            <a:ext cx="9144000" cy="182880"/>
          </a:xfrm>
          <a:prstGeom prst="rect">
            <a:avLst/>
          </a:prstGeom>
          <a:solidFill>
            <a:srgbClr val="E5534B">
              <a:alpha val="30000"/>
            </a:srgbClr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"/>
          <p:cNvSpPr/>
          <p:nvPr/>
        </p:nvSpPr>
        <p:spPr>
          <a:xfrm>
            <a:off x="45720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Muhim Eslatmalar</a:t>
            </a:r>
            <a:endParaRPr lang="en-US" sz="2600" dirty="0"/>
          </a:p>
        </p:txBody>
      </p:sp>
      <p:sp>
        <p:nvSpPr>
          <p:cNvPr id="4" name="Text"/>
          <p:cNvSpPr/>
          <p:nvPr/>
        </p:nvSpPr>
        <p:spPr>
          <a:xfrm>
            <a:off x="8229600" y="1371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400" dirty="0"/>
          </a:p>
        </p:txBody>
      </p:sp>
      <p:sp>
        <p:nvSpPr>
          <p:cNvPr id="5" name="Shape"/>
          <p:cNvSpPr/>
          <p:nvPr/>
        </p:nvSpPr>
        <p:spPr>
          <a:xfrm>
            <a:off x="320040" y="804672"/>
            <a:ext cx="4160520" cy="166420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Shape"/>
          <p:cNvSpPr/>
          <p:nvPr/>
        </p:nvSpPr>
        <p:spPr>
          <a:xfrm>
            <a:off x="320040" y="804672"/>
            <a:ext cx="416052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7" name="Text"/>
          <p:cNvSpPr/>
          <p:nvPr/>
        </p:nvSpPr>
        <p:spPr>
          <a:xfrm>
            <a:off x="457200" y="93268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📶 Internet Aloqasi</a:t>
            </a:r>
            <a:endParaRPr lang="en-US" sz="1250" dirty="0"/>
          </a:p>
        </p:txBody>
      </p:sp>
      <p:sp>
        <p:nvSpPr>
          <p:cNvPr id="8" name="Text"/>
          <p:cNvSpPr/>
          <p:nvPr/>
        </p:nvSpPr>
        <p:spPr>
          <a:xfrm>
            <a:off x="457200" y="1316736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Tashkilotchilar Wi-Fi taqdim etadi, ammo har ehtimolga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qarshi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oʼzingiz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bilan shaxsiy modem yoki hotspot olib kelishingiz tavsiya etiladi.</a:t>
            </a:r>
            <a:endParaRPr lang="en-US" sz="1050" dirty="0"/>
          </a:p>
        </p:txBody>
      </p:sp>
      <p:sp>
        <p:nvSpPr>
          <p:cNvPr id="9" name="Shape"/>
          <p:cNvSpPr/>
          <p:nvPr/>
        </p:nvSpPr>
        <p:spPr>
          <a:xfrm>
            <a:off x="4663440" y="804672"/>
            <a:ext cx="4160520" cy="166420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0" name="Shape"/>
          <p:cNvSpPr/>
          <p:nvPr/>
        </p:nvSpPr>
        <p:spPr>
          <a:xfrm>
            <a:off x="4663440" y="804672"/>
            <a:ext cx="41605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1" name="Text"/>
          <p:cNvSpPr/>
          <p:nvPr/>
        </p:nvSpPr>
        <p:spPr>
          <a:xfrm>
            <a:off x="4800600" y="93268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Texnik Jihozlar</a:t>
            </a:r>
            <a:endParaRPr lang="en-US" sz="1250" dirty="0"/>
          </a:p>
        </p:txBody>
      </p:sp>
      <p:sp>
        <p:nvSpPr>
          <p:cNvPr id="12" name="Text"/>
          <p:cNvSpPr/>
          <p:nvPr/>
        </p:nvSpPr>
        <p:spPr>
          <a:xfrm>
            <a:off x="4800600" y="1316736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Noutbuklar, zaryadlovchi qurilmalar va uzaytirgichlar (udlinitel) olib kelishni unutmang. Elektr manbalari cheklangan boʼlishi mumkin.</a:t>
            </a:r>
            <a:endParaRPr lang="en-US" sz="1050" dirty="0"/>
          </a:p>
        </p:txBody>
      </p:sp>
      <p:sp>
        <p:nvSpPr>
          <p:cNvPr id="13" name="Shape"/>
          <p:cNvSpPr/>
          <p:nvPr/>
        </p:nvSpPr>
        <p:spPr>
          <a:xfrm>
            <a:off x="320040" y="2633472"/>
            <a:ext cx="4160520" cy="166420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4" name="Shape"/>
          <p:cNvSpPr/>
          <p:nvPr/>
        </p:nvSpPr>
        <p:spPr>
          <a:xfrm>
            <a:off x="320040" y="2633472"/>
            <a:ext cx="416052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5" name="Text"/>
          <p:cNvSpPr/>
          <p:nvPr/>
        </p:nvSpPr>
        <p:spPr>
          <a:xfrm>
            <a:off x="457200" y="276148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Salomatlik</a:t>
            </a:r>
            <a:endParaRPr lang="en-US" sz="1250" dirty="0"/>
          </a:p>
        </p:txBody>
      </p:sp>
      <p:sp>
        <p:nvSpPr>
          <p:cNvPr id="16" name="Text"/>
          <p:cNvSpPr/>
          <p:nvPr/>
        </p:nvSpPr>
        <p:spPr>
          <a:xfrm>
            <a:off x="457200" y="3145536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Uyqu va ovqatlanish rejimiga rioya qiling. Xakaton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davomida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oʼzingizni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yaxshi his qilishingiz samaradorlik garovidir.</a:t>
            </a:r>
            <a:endParaRPr lang="en-US" sz="1050" dirty="0"/>
          </a:p>
        </p:txBody>
      </p:sp>
      <p:sp>
        <p:nvSpPr>
          <p:cNvPr id="17" name="Shape"/>
          <p:cNvSpPr/>
          <p:nvPr/>
        </p:nvSpPr>
        <p:spPr>
          <a:xfrm>
            <a:off x="4663440" y="2633472"/>
            <a:ext cx="4160520" cy="166420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8" name="Shape"/>
          <p:cNvSpPr/>
          <p:nvPr/>
        </p:nvSpPr>
        <p:spPr>
          <a:xfrm>
            <a:off x="4663440" y="2633472"/>
            <a:ext cx="416052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9" name="Text"/>
          <p:cNvSpPr/>
          <p:nvPr/>
        </p:nvSpPr>
        <p:spPr>
          <a:xfrm>
            <a:off x="4800600" y="276148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Oʼz aro Hurmat</a:t>
            </a:r>
            <a:endParaRPr lang="en-US" sz="1250" dirty="0"/>
          </a:p>
        </p:txBody>
      </p:sp>
      <p:sp>
        <p:nvSpPr>
          <p:cNvPr id="20" name="Text"/>
          <p:cNvSpPr/>
          <p:nvPr/>
        </p:nvSpPr>
        <p:spPr>
          <a:xfrm>
            <a:off x="4800600" y="3145536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Boshqa jamoalar, mentorlar va tashkilotchilarga hurmat bilan munosabatda boʼling. Biz bir katta oilamiz.</a:t>
            </a:r>
            <a:endParaRPr lang="en-US" sz="1050" dirty="0"/>
          </a:p>
        </p:txBody>
      </p:sp>
      <p:sp>
        <p:nvSpPr>
          <p:cNvPr id="21" name="Shape"/>
          <p:cNvSpPr/>
          <p:nvPr/>
        </p:nvSpPr>
        <p:spPr>
          <a:xfrm>
            <a:off x="320040" y="4526280"/>
            <a:ext cx="8503920" cy="548640"/>
          </a:xfrm>
          <a:prstGeom prst="rect">
            <a:avLst/>
          </a:prstGeom>
          <a:solidFill>
            <a:srgbClr val="150A0A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2" name="Shape"/>
          <p:cNvSpPr/>
          <p:nvPr/>
        </p:nvSpPr>
        <p:spPr>
          <a:xfrm>
            <a:off x="320040" y="4526280"/>
            <a:ext cx="8503920" cy="36576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3" name="Text"/>
          <p:cNvSpPr/>
          <p:nvPr/>
        </p:nvSpPr>
        <p:spPr>
          <a:xfrm>
            <a:off x="502920" y="4544568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800" dirty="0"/>
          </a:p>
        </p:txBody>
      </p:sp>
      <p:sp>
        <p:nvSpPr>
          <p:cNvPr id="24" name="Text"/>
          <p:cNvSpPr/>
          <p:nvPr/>
        </p:nvSpPr>
        <p:spPr>
          <a:xfrm>
            <a:off x="1005840" y="4572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DIQQAT: Xavfsizlik qoidalariga rioya qilish barcha ishtirokchilar uchun majburiydir.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4892040"/>
            <a:ext cx="9144000" cy="182880"/>
          </a:xfrm>
          <a:prstGeom prst="rect">
            <a:avLst/>
          </a:prstGeom>
          <a:solidFill>
            <a:srgbClr val="E5534B">
              <a:alpha val="30000"/>
            </a:srgbClr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Text"/>
          <p:cNvSpPr/>
          <p:nvPr/>
        </p:nvSpPr>
        <p:spPr>
          <a:xfrm>
            <a:off x="457200" y="16459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 Bu Bosqich Muhim?</a:t>
            </a:r>
            <a:endParaRPr lang="en-US" sz="2600" dirty="0"/>
          </a:p>
        </p:txBody>
      </p:sp>
      <p:sp>
        <p:nvSpPr>
          <p:cNvPr id="4" name="Text"/>
          <p:cNvSpPr/>
          <p:nvPr/>
        </p:nvSpPr>
        <p:spPr>
          <a:xfrm>
            <a:off x="8229600" y="1371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400" dirty="0"/>
          </a:p>
        </p:txBody>
      </p:sp>
      <p:sp>
        <p:nvSpPr>
          <p:cNvPr id="5" name="Shape"/>
          <p:cNvSpPr/>
          <p:nvPr/>
        </p:nvSpPr>
        <p:spPr>
          <a:xfrm>
            <a:off x="320040" y="804672"/>
            <a:ext cx="4160520" cy="166420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6" name="Shape"/>
          <p:cNvSpPr/>
          <p:nvPr/>
        </p:nvSpPr>
        <p:spPr>
          <a:xfrm>
            <a:off x="320040" y="804672"/>
            <a:ext cx="54864" cy="1664208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7" name="Shape"/>
          <p:cNvSpPr/>
          <p:nvPr/>
        </p:nvSpPr>
        <p:spPr>
          <a:xfrm>
            <a:off x="484632" y="1005840"/>
            <a:ext cx="502920" cy="50292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8" name="Text"/>
          <p:cNvSpPr/>
          <p:nvPr/>
        </p:nvSpPr>
        <p:spPr>
          <a:xfrm>
            <a:off x="484632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1600" dirty="0"/>
          </a:p>
        </p:txBody>
      </p:sp>
      <p:sp>
        <p:nvSpPr>
          <p:cNvPr id="9" name="Text"/>
          <p:cNvSpPr/>
          <p:nvPr/>
        </p:nvSpPr>
        <p:spPr>
          <a:xfrm>
            <a:off x="1097280" y="10058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 Tajriba</a:t>
            </a:r>
            <a:endParaRPr lang="en-US" sz="1400" dirty="0"/>
          </a:p>
        </p:txBody>
      </p:sp>
      <p:sp>
        <p:nvSpPr>
          <p:cNvPr id="10" name="Text"/>
          <p:cNvSpPr/>
          <p:nvPr/>
        </p:nvSpPr>
        <p:spPr>
          <a:xfrm>
            <a:off x="1097280" y="1399032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Nazariy bilimlarni real loyihada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sinab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koʼrish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 MVP yaratish imkoniyati.</a:t>
            </a:r>
            <a:endParaRPr lang="en-US" sz="1050" dirty="0"/>
          </a:p>
        </p:txBody>
      </p:sp>
      <p:sp>
        <p:nvSpPr>
          <p:cNvPr id="11" name="Shape"/>
          <p:cNvSpPr/>
          <p:nvPr/>
        </p:nvSpPr>
        <p:spPr>
          <a:xfrm>
            <a:off x="4663440" y="804672"/>
            <a:ext cx="4160520" cy="166420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2" name="Shape"/>
          <p:cNvSpPr/>
          <p:nvPr/>
        </p:nvSpPr>
        <p:spPr>
          <a:xfrm>
            <a:off x="4663440" y="804672"/>
            <a:ext cx="54864" cy="16642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3" name="Shape"/>
          <p:cNvSpPr/>
          <p:nvPr/>
        </p:nvSpPr>
        <p:spPr>
          <a:xfrm>
            <a:off x="4828031" y="1005840"/>
            <a:ext cx="50292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4" name="Text"/>
          <p:cNvSpPr/>
          <p:nvPr/>
        </p:nvSpPr>
        <p:spPr>
          <a:xfrm>
            <a:off x="4828031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600" dirty="0"/>
          </a:p>
        </p:txBody>
      </p:sp>
      <p:sp>
        <p:nvSpPr>
          <p:cNvPr id="15" name="Text"/>
          <p:cNvSpPr/>
          <p:nvPr/>
        </p:nvSpPr>
        <p:spPr>
          <a:xfrm>
            <a:off x="5440679" y="10058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400" dirty="0"/>
          </a:p>
        </p:txBody>
      </p:sp>
      <p:sp>
        <p:nvSpPr>
          <p:cNvPr id="16" name="Text"/>
          <p:cNvSpPr/>
          <p:nvPr/>
        </p:nvSpPr>
        <p:spPr>
          <a:xfrm>
            <a:off x="5440679" y="1399032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Sohadagi eng kuchli mentorlar, ekspertlar va hamfikrlar bilan tanishuv.</a:t>
            </a:r>
            <a:endParaRPr lang="en-US" sz="1050" dirty="0"/>
          </a:p>
        </p:txBody>
      </p:sp>
      <p:sp>
        <p:nvSpPr>
          <p:cNvPr id="17" name="Shape"/>
          <p:cNvSpPr/>
          <p:nvPr/>
        </p:nvSpPr>
        <p:spPr>
          <a:xfrm>
            <a:off x="320040" y="2633472"/>
            <a:ext cx="4160520" cy="166420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8" name="Shape"/>
          <p:cNvSpPr/>
          <p:nvPr/>
        </p:nvSpPr>
        <p:spPr>
          <a:xfrm>
            <a:off x="320040" y="2633472"/>
            <a:ext cx="54864" cy="16642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19" name="Shape"/>
          <p:cNvSpPr/>
          <p:nvPr/>
        </p:nvSpPr>
        <p:spPr>
          <a:xfrm>
            <a:off x="484632" y="2834640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0" name="Text"/>
          <p:cNvSpPr/>
          <p:nvPr/>
        </p:nvSpPr>
        <p:spPr>
          <a:xfrm>
            <a:off x="484632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</a:t>
            </a:r>
            <a:endParaRPr lang="en-US" sz="1600" dirty="0"/>
          </a:p>
        </p:txBody>
      </p:sp>
      <p:sp>
        <p:nvSpPr>
          <p:cNvPr id="21" name="Text"/>
          <p:cNvSpPr/>
          <p:nvPr/>
        </p:nvSpPr>
        <p:spPr>
          <a:xfrm>
            <a:off x="1097280" y="28346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Kuchli Portfolio</a:t>
            </a:r>
            <a:endParaRPr lang="en-US" sz="1400" dirty="0"/>
          </a:p>
        </p:txBody>
      </p:sp>
      <p:sp>
        <p:nvSpPr>
          <p:cNvPr id="22" name="Text"/>
          <p:cNvSpPr/>
          <p:nvPr/>
        </p:nvSpPr>
        <p:spPr>
          <a:xfrm>
            <a:off x="1097280" y="3227832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beruvchilar uchun tayyor keys va jamoaviy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ishlash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koʼnikmasini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namoyish etish.</a:t>
            </a:r>
            <a:endParaRPr lang="en-US" sz="1050" dirty="0"/>
          </a:p>
        </p:txBody>
      </p:sp>
      <p:sp>
        <p:nvSpPr>
          <p:cNvPr id="23" name="Shape"/>
          <p:cNvSpPr/>
          <p:nvPr/>
        </p:nvSpPr>
        <p:spPr>
          <a:xfrm>
            <a:off x="4663440" y="2633472"/>
            <a:ext cx="4160520" cy="166420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4" name="Shape"/>
          <p:cNvSpPr/>
          <p:nvPr/>
        </p:nvSpPr>
        <p:spPr>
          <a:xfrm>
            <a:off x="4663440" y="2633472"/>
            <a:ext cx="54864" cy="16642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5" name="Shape"/>
          <p:cNvSpPr/>
          <p:nvPr/>
        </p:nvSpPr>
        <p:spPr>
          <a:xfrm>
            <a:off x="4828031" y="2834640"/>
            <a:ext cx="50292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26" name="Text"/>
          <p:cNvSpPr/>
          <p:nvPr/>
        </p:nvSpPr>
        <p:spPr>
          <a:xfrm>
            <a:off x="4828031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1600" dirty="0"/>
          </a:p>
        </p:txBody>
      </p:sp>
      <p:sp>
        <p:nvSpPr>
          <p:cNvPr id="27" name="Text"/>
          <p:cNvSpPr/>
          <p:nvPr/>
        </p:nvSpPr>
        <p:spPr>
          <a:xfrm>
            <a:off x="5440679" y="28346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Katta Imkoniyat</a:t>
            </a:r>
            <a:endParaRPr lang="en-US" sz="1400" dirty="0"/>
          </a:p>
        </p:txBody>
      </p:sp>
      <p:sp>
        <p:nvSpPr>
          <p:cNvPr id="28" name="Text"/>
          <p:cNvSpPr/>
          <p:nvPr/>
        </p:nvSpPr>
        <p:spPr>
          <a:xfrm>
            <a:off x="5440679" y="3227832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Respublika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bosqichiga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yoʼllanma</a:t>
            </a: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 oʼz startapingizni ishga tushirish uchun birinchi qadam.</a:t>
            </a:r>
            <a:endParaRPr lang="en-US" sz="1050" dirty="0"/>
          </a:p>
        </p:txBody>
      </p:sp>
      <p:sp>
        <p:nvSpPr>
          <p:cNvPr id="29" name="Shape"/>
          <p:cNvSpPr/>
          <p:nvPr/>
        </p:nvSpPr>
        <p:spPr>
          <a:xfrm>
            <a:off x="320040" y="4526280"/>
            <a:ext cx="8503920" cy="320040"/>
          </a:xfrm>
          <a:prstGeom prst="rect">
            <a:avLst/>
          </a:prstGeom>
          <a:solidFill>
            <a:srgbClr val="0F1010"/>
          </a:solidFill>
          <a:ln w="12700">
            <a:solidFill>
              <a:srgbClr val="2D3A50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0" name="Shape"/>
          <p:cNvSpPr/>
          <p:nvPr/>
        </p:nvSpPr>
        <p:spPr>
          <a:xfrm>
            <a:off x="320040" y="4526280"/>
            <a:ext cx="54864" cy="320040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1" name="Text"/>
          <p:cNvSpPr/>
          <p:nvPr/>
        </p:nvSpPr>
        <p:spPr>
          <a:xfrm>
            <a:off x="457200" y="454456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“Xakaton - bu shunchaki musobaqa emas, bu sizning kelajakdagi karyerangiz uchun tramplin.”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  <p:txBody>
          <a:bodyPr/>
          <a:lstStyle/>
          <a:p>
            <a:endParaRPr lang="en-UZ"/>
          </a:p>
        </p:txBody>
      </p:sp>
      <p:sp>
        <p:nvSpPr>
          <p:cNvPr id="4" name="Text 2"/>
          <p:cNvSpPr/>
          <p:nvPr/>
        </p:nvSpPr>
        <p:spPr>
          <a:xfrm>
            <a:off x="3200400" y="50292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{}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OMAD YOR BO'LSIN!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20040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"O'z g'oyalaringiz bilan Andijonni va O'zbekistonni o'zgartirishga tayyormisiz?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sizning g'alabangizga ishonamiz!"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3159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#UmummilliyXakaton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37560" y="43159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#AndijonAI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0" y="43159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#KelajakSizniki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553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AI ALLIANCE · AICA · IT PARK UZBEKISTAN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1940</Words>
  <Application>Microsoft Office PowerPoint</Application>
  <PresentationFormat>Экран (16:9)</PresentationFormat>
  <Paragraphs>409</Paragraphs>
  <Slides>23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7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Milliy AI Xakaton: Surxondaryo</dc:title>
  <dc:subject>PptxGenJS Presentation</dc:subject>
  <dc:creator>PptxGenJS</dc:creator>
  <cp:lastModifiedBy>FAYZ Muhammadjon</cp:lastModifiedBy>
  <cp:revision>13</cp:revision>
  <dcterms:created xsi:type="dcterms:W3CDTF">2026-03-29T18:50:37Z</dcterms:created>
  <dcterms:modified xsi:type="dcterms:W3CDTF">2026-06-03T05:45:55Z</dcterms:modified>
</cp:coreProperties>
</file>