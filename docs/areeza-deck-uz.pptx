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MILLIY AI XAKATON · SUD TIZIMI · ANDIJON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9B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Rakhmatillo Lutfullaev · Asoschi va CEO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pPr indent="0" marL="0">
              <a:buNone/>
            </a:pPr>
            <a:r>
              <a:rPr lang="en-US" sz="130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85800" y="44805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Sudga tayyor ariza — </a:t>
            </a:r>
            <a:pPr indent="0" marL="0">
              <a:buNone/>
            </a:pPr>
            <a:r>
              <a:rPr lang="en-US" sz="3200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hikoyangizdan.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raqamli sud tizimi uchun fuqaroga qaratilgan AI qatlami.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 MEN BUNI QURDIM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MENING HIKOYAM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 Uzum'da sotuvchi edim. </a:t>
            </a:r>
            <a:pPr indent="0" marL="0">
              <a:buNone/>
            </a:pPr>
            <a:r>
              <a:rPr lang="en-US" sz="40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Tovarlarim yo'qoldi.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Olti oy kutdim. Tashladim.
</a:t>
            </a:r>
            <a:pPr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Ikki yil bo'ldi — </a:t>
            </a:r>
            <a:pPr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D9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hali ham yo'q.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3484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5349240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 shikoyati ·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68756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Kun.uz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52544" y="443484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7.3 mlrd so'm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52544" y="5349240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qaytarilgan zarar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52544" y="568756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Raqobat qo'mitasi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19288" y="443484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mln+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019288" y="5349240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fuqarolik ishi · +50% YoY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19288" y="568756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Gazeta.uz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MUAMMO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MUAMMO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hikoya emas — </a:t>
            </a:r>
            <a:pPr indent="0" marL="0">
              <a:buNone/>
            </a:pPr>
            <a:r>
              <a:rPr lang="en-US" sz="44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minglab.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2567178" cy="3383280"/>
          </a:xfrm>
          <a:prstGeom prst="roundRect">
            <a:avLst>
              <a:gd name="adj" fmla="val 2137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670048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Iste'molchi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3017520"/>
            <a:ext cx="210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Uzum · Yandex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41832" y="402336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3,100 shikoyat ·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5532120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Kun.uz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35858" y="2468880"/>
            <a:ext cx="2567178" cy="3383280"/>
          </a:xfrm>
          <a:prstGeom prst="roundRect">
            <a:avLst>
              <a:gd name="adj" fmla="val 2137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1890" y="2670048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Quruvchi firibgarligi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91890" y="3017520"/>
            <a:ext cx="210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 Dream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91890" y="402336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jabrlangan · 97 mlrd so'm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91890" y="5532120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Vzglyad.uz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2567178" cy="3383280"/>
          </a:xfrm>
          <a:prstGeom prst="roundRect">
            <a:avLst>
              <a:gd name="adj" fmla="val 2137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1948" y="2670048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Kommunal qarz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1948" y="3017520"/>
            <a:ext cx="210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Suv · gaz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1948" y="402336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148,000 ish · o'rtacha ~$220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1948" y="5532120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Kun.uz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35974" y="2468880"/>
            <a:ext cx="2567178" cy="3383280"/>
          </a:xfrm>
          <a:prstGeom prst="roundRect">
            <a:avLst>
              <a:gd name="adj" fmla="val 2137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2006" y="2670048"/>
            <a:ext cx="210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92006" y="3017520"/>
            <a:ext cx="210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Aliment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92006" y="402336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46,900 ajralish · 2025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92006" y="5532120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Daryo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MATEMATIKA ISHLAMAYDI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MATEMATIKA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~$220 da'vo.  </a:t>
            </a:r>
            <a:pPr indent="0" marL="0">
              <a:buNone/>
            </a:pPr>
            <a:r>
              <a:rPr lang="en-US" sz="6400" b="1" dirty="0">
                <a:solidFill>
                  <a:srgbClr val="D9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</a:t>
            </a:r>
            <a:pPr indent="0" marL="0">
              <a:buNone/>
            </a:pPr>
            <a:r>
              <a:rPr lang="en-US" sz="6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advokat.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3453384" cy="2286000"/>
          </a:xfrm>
          <a:prstGeom prst="roundRect">
            <a:avLst>
              <a:gd name="adj" fmla="val 2400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004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Maslahat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2904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~$17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Protection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67784" y="3017520"/>
            <a:ext cx="3453384" cy="2286000"/>
          </a:xfrm>
          <a:prstGeom prst="roundRect">
            <a:avLst>
              <a:gd name="adj" fmla="val 2400"/>
            </a:avLst>
          </a:prstGeom>
          <a:solidFill>
            <a:srgbClr val="C9A227">
              <a:alpha val="12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2104" y="32004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Hujjat yozish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2104" y="3611880"/>
            <a:ext cx="2904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~$83+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642104" y="49377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norma.uz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9768" y="3017520"/>
            <a:ext cx="3453384" cy="2286000"/>
          </a:xfrm>
          <a:prstGeom prst="roundRect">
            <a:avLst>
              <a:gd name="adj" fmla="val 2400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4088" y="32004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To'liq 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4088" y="3611880"/>
            <a:ext cx="2904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~$500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324088" y="49377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Protection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55778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5,665 advokat · 36.8 mln aholi · 20 ta tumanda — bitta firma yo'q.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YECHIM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YECHIM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Hikoyadan sudga tayyor arizagacha. </a:t>
            </a:r>
            <a:pPr indent="0" marL="0">
              <a:buNone/>
            </a:pPr>
            <a:r>
              <a:rPr lang="en-US" sz="3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daqiqada.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1711452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1711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Tasvirlang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6980" y="3108960"/>
            <a:ext cx="1711452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6980" y="3291840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06980" y="3794760"/>
            <a:ext cx="1711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Tasniflang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28160" y="3108960"/>
            <a:ext cx="1711452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8160" y="3291840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28160" y="3794760"/>
            <a:ext cx="1711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Yo'naltiring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49340" y="3108960"/>
            <a:ext cx="1711452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9340" y="3291840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49340" y="3794760"/>
            <a:ext cx="1711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Tayyorlang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70520" y="3108960"/>
            <a:ext cx="1711452" cy="1554480"/>
          </a:xfrm>
          <a:prstGeom prst="roundRect">
            <a:avLst>
              <a:gd name="adj" fmla="val 3529"/>
            </a:avLst>
          </a:prstGeom>
          <a:solidFill>
            <a:srgbClr val="C9A227">
              <a:alpha val="12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0520" y="3291840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970520" y="3794760"/>
            <a:ext cx="1711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791700" y="3108960"/>
            <a:ext cx="1711452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1700" y="3291840"/>
            <a:ext cx="1711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791700" y="3794760"/>
            <a:ext cx="1711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53035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emas — platforma.  </a:t>
            </a:r>
            <a:pPr indent="0" marL="0">
              <a:buNone/>
            </a:pPr>
            <a:r>
              <a:rPr lang="en-US" sz="16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validatsiya qaytarish sabablarini oldindan tutadi.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BOZOR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BOZOR HAJMI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Andijondan boshlaymiz. </a:t>
            </a:r>
            <a:pPr indent="0" marL="0">
              <a:buNone/>
            </a:pPr>
            <a:r>
              <a:rPr lang="en-US" sz="3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Oldinda butun mintaqa.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02147" y="2377440"/>
            <a:ext cx="10384658" cy="411480"/>
          </a:xfrm>
          <a:prstGeom prst="roundRect">
            <a:avLst>
              <a:gd name="adj" fmla="val 13333"/>
            </a:avLst>
          </a:prstGeom>
          <a:solidFill>
            <a:srgbClr val="1C2E4F">
              <a:alpha val="4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0747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36587" y="2377440"/>
            <a:ext cx="9013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$73B · global legaltech (2035) · 1.5 mlrd odam yordamga muhtoj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92056" y="2880360"/>
            <a:ext cx="8004840" cy="411480"/>
          </a:xfrm>
          <a:prstGeom prst="roundRect">
            <a:avLst>
              <a:gd name="adj" fmla="val 13333"/>
            </a:avLst>
          </a:prstGeom>
          <a:solidFill>
            <a:srgbClr val="1C2E4F">
              <a:alpha val="55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0656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26496" y="2880360"/>
            <a:ext cx="663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+ MDH · ~300 mln odam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81964" y="3383280"/>
            <a:ext cx="5625023" cy="411480"/>
          </a:xfrm>
          <a:prstGeom prst="roundRect">
            <a:avLst>
              <a:gd name="adj" fmla="val 13333"/>
            </a:avLst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0564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0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6404" y="3383280"/>
            <a:ext cx="42534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7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· 2 mln+ ish/yil · +50% YoY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5196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434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5,665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60120" y="516636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advokat · 36.8 mln aholiga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67784" y="425196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2104" y="4434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42104" y="516636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advokatlar Toshkentda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9768" y="425196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4088" y="4434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556 / oy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324088" y="516636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har bir sudyaga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RAQOBAT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RAQOBAT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Boshqa hech kim </a:t>
            </a:r>
            <a:pPr indent="0" marL="0">
              <a:buNone/>
            </a:pPr>
            <a:r>
              <a:rPr lang="en-US" sz="34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fuqaroga</a:t>
            </a:r>
            <a:pPr indent="0" marL="0">
              <a:buNone/>
            </a:pPr>
            <a:r>
              <a:rPr lang="en-US" sz="3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qaratilgan emas.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417320"/>
                <a:gridCol w="1234440"/>
                <a:gridCol w="1234440"/>
                <a:gridCol w="1234440"/>
                <a:gridCol w="1234440"/>
                <a:gridCol w="12161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E0BE5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Areeza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4EF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Tuzuk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4EF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 Cloud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4EF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KOICA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4EF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Advokat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4EF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e-sud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4EF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Fuqaroga qaratilgan (biznes emas)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4EF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To'g'ri sud yo'nalishini topadi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4EF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Sudga tayyor da'vo arizasi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4EF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Qaytarish sabablariga tekshiruv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4EF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$4-8 ga · 24/7 darhol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7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B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Tuzuk · Case Cloud · KOICA</a:t>
            </a:r>
            <a:pPr indent="0" marL="0">
              <a:buNone/>
            </a:pPr>
            <a:r>
              <a:rPr lang="en-US" sz="15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advokatlar uchun.  </a:t>
            </a:r>
            <a:pPr indent="0" marL="0">
              <a:buNone/>
            </a:pPr>
            <a:r>
              <a:rPr lang="en-US" sz="1500" b="1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fuqaroga qaratilgan kirish darvozasi.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BIZNES-MODELI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BIZNES-MODELI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Ikki kanal. </a:t>
            </a:r>
            <a:pPr indent="0" marL="0">
              <a:buNone/>
            </a:pPr>
            <a:r>
              <a:rPr lang="en-US" sz="36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platforma.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5225796" cy="2286000"/>
          </a:xfrm>
          <a:prstGeom prst="roundRect">
            <a:avLst>
              <a:gd name="adj" fmla="val 2400"/>
            </a:avLst>
          </a:prstGeom>
          <a:solidFill>
            <a:srgbClr val="C9A227">
              <a:alpha val="12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06040"/>
            <a:ext cx="44942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B2C — FUQARO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3017520"/>
            <a:ext cx="44942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$5–8</a:t>
            </a:r>
            <a:pPr indent="0" marL="0">
              <a:buNone/>
            </a:pPr>
            <a:r>
              <a:rPr lang="en-US" sz="1800" dirty="0">
                <a:solidFill>
                  <a:srgbClr val="9BA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ariza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51560" y="393192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so'm · to'liq paket.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2–10× arzon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DoNotPay / Rocket / LegalZoom dan.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7356" y="2377440"/>
            <a:ext cx="5225796" cy="2286000"/>
          </a:xfrm>
          <a:prstGeom prst="roundRect">
            <a:avLst>
              <a:gd name="adj" fmla="val 2400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3116" y="2606040"/>
            <a:ext cx="44942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EF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— ADVOKAT / FIRMA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43116" y="3017520"/>
            <a:ext cx="44942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pPr indent="0" marL="0">
              <a:buNone/>
            </a:pPr>
            <a:r>
              <a:rPr lang="en-US" sz="1800" dirty="0">
                <a:solidFill>
                  <a:srgbClr val="9BA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filing  + </a:t>
            </a:r>
            <a:pPr indent="0" marL="0">
              <a:buNone/>
            </a:pPr>
            <a:r>
              <a:rPr lang="en-US" sz="3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</a:t>
            </a:r>
            <a:pPr indent="0" marL="0">
              <a:buNone/>
            </a:pPr>
            <a:r>
              <a:rPr lang="en-US" sz="1800" dirty="0">
                <a:solidFill>
                  <a:srgbClr val="9BA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oy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643116" y="393192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vosita.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Clio / PracticePanther dan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narxda.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9834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16636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YAGONA XARAJAT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544068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~$0.40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filing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52544" y="516636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YALPI MARJA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2544" y="544068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352544" y="598932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infrastruktura biznesi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19288" y="516636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YIL 1 MAQSADI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19288" y="544068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~$130K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019288" y="598932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fuqaro + 50 firma · ARR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JAMOA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JAMOA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 ishlay oladigan jamoa. </a:t>
            </a:r>
            <a:pPr indent="0" marL="0">
              <a:buNone/>
            </a:pPr>
            <a:r>
              <a:rPr lang="en-US" sz="32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Bootstrapped.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5271516" cy="1554480"/>
          </a:xfrm>
          <a:prstGeom prst="roundRect">
            <a:avLst>
              <a:gd name="adj" fmla="val 3529"/>
            </a:avLst>
          </a:prstGeom>
          <a:solidFill>
            <a:srgbClr val="C9A227">
              <a:alpha val="8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77440"/>
            <a:ext cx="4539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ASOSCHI ·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4539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Rakhmatillo Lutfullaev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birinchi Cursor Ambassador. Solo qurgan: Horyco, Notiky.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1636" y="2194560"/>
            <a:ext cx="5271516" cy="1554480"/>
          </a:xfrm>
          <a:prstGeom prst="roundRect">
            <a:avLst>
              <a:gd name="adj" fmla="val 3529"/>
            </a:avLst>
          </a:prstGeom>
          <a:solidFill>
            <a:srgbClr val="C9A227">
              <a:alpha val="8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7396" y="2377440"/>
            <a:ext cx="4539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7396" y="2697480"/>
            <a:ext cx="4539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Mukhammadxoja Lutfullaev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97396" y="324612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@ Clockster · CTO @ Horyco.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23360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29768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Shoxdiyor Aliyev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@ Yandex Market.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7784" y="3886200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2104" y="4023360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2104" y="429768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Saloxiddin Mirxafizov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2104" y="47548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yil · video edit · SMM.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9768" y="3886200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1C2E4F">
              <a:alpha val="30000"/>
            </a:srgbClr>
          </a:solidFill>
          <a:ln w="9525">
            <a:solidFill>
              <a:srgbClr val="2A39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4088" y="4023360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4088" y="429768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Abdulboriy Abduxalilov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4088" y="47548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yil · frontend.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5440680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C9A227">
              <a:alpha val="8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5778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E1B33"/>
          </a:solidFill>
          <a:ln w="12700">
            <a:solidFill>
              <a:srgbClr val="E0BE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45920" y="5577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MASLAHATCHI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45920" y="5779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Anvarjon Abdullajonov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45920" y="5989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 Sud Dasturchilar Yetakchisi · 10+ yil tajriba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AREEZA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59752" y="2926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SO'ROV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SO'ROV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 pre-seed.
</a:t>
            </a:r>
            <a:pPr indent="0" marL="0">
              <a:lnSpc>
                <a:spcPct val="105000"/>
              </a:lnSpc>
              <a:buNone/>
            </a:pPr>
            <a:r>
              <a:rPr lang="en-US" sz="5000" b="1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 — davlat bilan birga.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Texnik tomon — bootstrapped. Pul </a:t>
            </a:r>
            <a:pPr indent="0" marL="0">
              <a:buNone/>
            </a:pPr>
            <a:r>
              <a:rPr lang="en-US" sz="1800" b="1" i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tarqatishga</a:t>
            </a:r>
            <a:pPr indent="0" marL="0">
              <a:buNone/>
            </a:pPr>
            <a:r>
              <a:rPr lang="en-US" sz="1800" i="1" dirty="0">
                <a:solidFill>
                  <a:srgbClr val="9BA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ketadi.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TARQATISH · 60%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950208"/>
            <a:ext cx="3483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+ Andijon pilot · 10K fuqaro.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52544" y="3657600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TEXNOLOGIYA · 25%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52544" y="3950208"/>
            <a:ext cx="3483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352544" y="45720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classifier · RAG.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19288" y="3657600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HUQUQ + MASLAHAT · 15%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19288" y="3950208"/>
            <a:ext cx="3483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019288" y="45720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retainer.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34924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53212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DAVLAT QO'SHADI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806440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 → $200K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617220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Park · xorijiy VC bilan teng.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52544" y="553212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SOLISHTIRISH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52544" y="5806440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Tilmoch · $150K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52544" y="617220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AI pre-seed · 2025.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19288" y="553212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YIL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19288" y="5806440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 fuqaro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19288" y="6172200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~$130K ARR · seed-ga tayyor.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6355080"/>
            <a:ext cx="10817352" cy="0"/>
          </a:xfrm>
          <a:prstGeom prst="line">
            <a:avLst/>
          </a:prstGeom>
          <a:noFill/>
          <a:ln w="6350">
            <a:solidFill>
              <a:srgbClr val="2A39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446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88552" y="6446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C7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areeza.uz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Areeza — Sudga tayyor ariza</dc:title>
  <dc:subject>PptxGenJS Presentation</dc:subject>
  <dc:creator>Areeza</dc:creator>
  <cp:lastModifiedBy>Areeza</cp:lastModifiedBy>
  <cp:revision>1</cp:revision>
  <dcterms:created xsi:type="dcterms:W3CDTF">2026-06-05T17:21:25Z</dcterms:created>
  <dcterms:modified xsi:type="dcterms:W3CDTF">2026-06-05T17:21:25Z</dcterms:modified>
</cp:coreProperties>
</file>