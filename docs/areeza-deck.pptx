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148840"/>
            <a:ext cx="64008" cy="155448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E0B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AI HACKATHON  ·  COURT / JUSTICE TRACK  ·  ANDIJAN 2026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68680" y="20574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Areeza</a:t>
            </a:r>
            <a:endParaRPr lang="en-US" sz="7600" dirty="0"/>
          </a:p>
        </p:txBody>
      </p:sp>
      <p:sp>
        <p:nvSpPr>
          <p:cNvPr id="5" name="Text 3"/>
          <p:cNvSpPr/>
          <p:nvPr/>
        </p:nvSpPr>
        <p:spPr>
          <a:xfrm>
            <a:off x="868680" y="340156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E0BE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court-ready legal filing — from a single sentence.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intelligence layer for digital justice in Uzbekistan.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8696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advisors from Oliy Sud</a:t>
            </a:r>
            <a:pPr indent="0" marL="0">
              <a:buNone/>
            </a:pPr>
            <a:r>
              <a:rPr lang="en-US" sz="14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Supreme Court of Uzbekistan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08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Courts went online. Justice didn't.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330952" cy="3611880"/>
          </a:xfrm>
          <a:prstGeom prst="roundRect">
            <a:avLst>
              <a:gd name="adj" fmla="val 2025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45352" y="2057400"/>
            <a:ext cx="5303520" cy="3611880"/>
          </a:xfrm>
          <a:prstGeom prst="roundRect">
            <a:avLst>
              <a:gd name="adj" fmla="val 2025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CITIZEN IS ALONE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$125+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914400" y="3611880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lawyer — more than the $100/mo minimum wage. People don't know which claim, which form, or which code, so filings are rejected for procedural mistakes.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19672" y="23317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COURTS ARE DROWNING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19672" y="274320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556</a:t>
            </a:r>
            <a:pPr indent="0" marL="0">
              <a:buNone/>
            </a:pPr>
            <a:r>
              <a:rPr lang="en-US" sz="2200" b="1" dirty="0">
                <a:solidFill>
                  <a:srgbClr val="6B7A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mo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6519672" y="36118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civil cases per judge — vs. a global norm of 16. 2M+ civil cases a year (+50% YoY). The Supreme Court itself calls it "an unrealistic regime."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58978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root cause:  </a:t>
            </a:r>
            <a:pPr algn="ctr" indent="0" marL="0">
              <a:buNone/>
            </a:pPr>
            <a:r>
              <a:rPr lang="en-US" sz="14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can't translate a life problem into the right legal procedure — so citizens are shut out, and courts drown in messy filings.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Areeza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0916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E0B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08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was impossible 18 months ago.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212080" cy="1783080"/>
          </a:xfrm>
          <a:prstGeom prst="roundRect">
            <a:avLst>
              <a:gd name="adj" fmla="val 4103"/>
            </a:avLst>
          </a:prstGeom>
          <a:solidFill>
            <a:srgbClr val="1C2E4F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459736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459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2404872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E-filing just became mandatory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54480" y="299008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Presidential decree (Aug 2025): court applications are now electronic-only.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36792" y="2148840"/>
            <a:ext cx="5212080" cy="1783080"/>
          </a:xfrm>
          <a:prstGeom prst="roundRect">
            <a:avLst>
              <a:gd name="adj" fmla="val 4103"/>
            </a:avLst>
          </a:prstGeom>
          <a:solidFill>
            <a:srgbClr val="1C2E4F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2459736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2459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51192" y="2404872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state is putting AI in courts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251192" y="299008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assistant on my.sud.uz, outcome prediction, auto-drafting — a built-in buyer and endorsement.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160520"/>
            <a:ext cx="5212080" cy="1783080"/>
          </a:xfrm>
          <a:prstGeom prst="roundRect">
            <a:avLst>
              <a:gd name="adj" fmla="val 4103"/>
            </a:avLst>
          </a:prstGeom>
          <a:solidFill>
            <a:srgbClr val="1C2E4F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4471416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4471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416552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LLMs crossed the threshold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54480" y="50017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can now turn a messy story into legal language — but raw AI hallucinates; we validate against real forms.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36792" y="4160520"/>
            <a:ext cx="5212080" cy="1783080"/>
          </a:xfrm>
          <a:prstGeom prst="roundRect">
            <a:avLst>
              <a:gd name="adj" fmla="val 4103"/>
            </a:avLst>
          </a:prstGeom>
          <a:solidFill>
            <a:srgbClr val="1C2E4F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29400" y="4471416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4471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251192" y="4416552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Uzbekistan 2030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51192" y="50017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16M+ digital government services in H1 2025. Citizens are ready too.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9D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Areeza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0916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08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problem to a court-ready filing.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07008" y="2889504"/>
            <a:ext cx="493776" cy="493776"/>
          </a:xfrm>
          <a:prstGeom prst="ellipse">
            <a:avLst/>
          </a:prstGeom>
          <a:solidFill>
            <a:srgbClr val="0E1B33"/>
          </a:solidFill>
          <a:ln/>
        </p:spPr>
      </p:sp>
      <p:sp>
        <p:nvSpPr>
          <p:cNvPr id="6" name="Text 4"/>
          <p:cNvSpPr/>
          <p:nvPr/>
        </p:nvSpPr>
        <p:spPr>
          <a:xfrm>
            <a:off x="1207008" y="288950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493008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231136" y="2999232"/>
            <a:ext cx="301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496312" y="265176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63240" y="2889504"/>
            <a:ext cx="493776" cy="493776"/>
          </a:xfrm>
          <a:prstGeom prst="ellipse">
            <a:avLst/>
          </a:prstGeom>
          <a:solidFill>
            <a:srgbClr val="0E1B33"/>
          </a:solidFill>
          <a:ln/>
        </p:spPr>
      </p:sp>
      <p:sp>
        <p:nvSpPr>
          <p:cNvPr id="11" name="Text 9"/>
          <p:cNvSpPr/>
          <p:nvPr/>
        </p:nvSpPr>
        <p:spPr>
          <a:xfrm>
            <a:off x="3063240" y="288950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404872" y="3493008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087368" y="2999232"/>
            <a:ext cx="301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352544" y="265176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919472" y="2889504"/>
            <a:ext cx="493776" cy="493776"/>
          </a:xfrm>
          <a:prstGeom prst="ellipse">
            <a:avLst/>
          </a:prstGeom>
          <a:solidFill>
            <a:srgbClr val="0E1B33"/>
          </a:solidFill>
          <a:ln/>
        </p:spPr>
      </p:sp>
      <p:sp>
        <p:nvSpPr>
          <p:cNvPr id="16" name="Text 14"/>
          <p:cNvSpPr/>
          <p:nvPr/>
        </p:nvSpPr>
        <p:spPr>
          <a:xfrm>
            <a:off x="4919472" y="288950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261104" y="3493008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943600" y="2999232"/>
            <a:ext cx="301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6208776" y="265176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75704" y="2889504"/>
            <a:ext cx="493776" cy="493776"/>
          </a:xfrm>
          <a:prstGeom prst="ellipse">
            <a:avLst/>
          </a:prstGeom>
          <a:solidFill>
            <a:srgbClr val="0E1B33"/>
          </a:solidFill>
          <a:ln/>
        </p:spPr>
      </p:sp>
      <p:sp>
        <p:nvSpPr>
          <p:cNvPr id="21" name="Text 19"/>
          <p:cNvSpPr/>
          <p:nvPr/>
        </p:nvSpPr>
        <p:spPr>
          <a:xfrm>
            <a:off x="6775704" y="288950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117336" y="3493008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99832" y="2999232"/>
            <a:ext cx="301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065008" y="265176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0E1B33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31936" y="2889504"/>
            <a:ext cx="493776" cy="49377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6" name="Text 24"/>
          <p:cNvSpPr/>
          <p:nvPr/>
        </p:nvSpPr>
        <p:spPr>
          <a:xfrm>
            <a:off x="8631936" y="288950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973568" y="3493008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656064" y="2999232"/>
            <a:ext cx="301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9921240" y="2651760"/>
            <a:ext cx="1627632" cy="1371600"/>
          </a:xfrm>
          <a:prstGeom prst="roundRect">
            <a:avLst>
              <a:gd name="adj" fmla="val 5333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488168" y="2889504"/>
            <a:ext cx="493776" cy="493776"/>
          </a:xfrm>
          <a:prstGeom prst="ellipse">
            <a:avLst/>
          </a:prstGeom>
          <a:solidFill>
            <a:srgbClr val="0E1B33"/>
          </a:solidFill>
          <a:ln/>
        </p:spPr>
      </p:sp>
      <p:sp>
        <p:nvSpPr>
          <p:cNvPr id="31" name="Text 29"/>
          <p:cNvSpPr/>
          <p:nvPr/>
        </p:nvSpPr>
        <p:spPr>
          <a:xfrm>
            <a:off x="10488168" y="288950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829800" y="3493008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40080" y="46634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chatbot. </a:t>
            </a:r>
            <a:pPr algn="ctr" indent="0" marL="0">
              <a:buNone/>
            </a:pPr>
            <a:r>
              <a:rPr lang="en-US" sz="16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that completes the filing — correct route, court-ready document, validation, and submission guidance.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“Validate” step catches the errors that cause rejection — before filing. That's our core edge.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008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Areeza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0916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E0B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08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“They didn't pay my salary” → a court-ready filing. In 2 minutes.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4297680" cy="3383280"/>
          </a:xfrm>
          <a:prstGeom prst="roundRect">
            <a:avLst>
              <a:gd name="adj" fmla="val 2162"/>
            </a:avLst>
          </a:prstGeom>
          <a:solidFill>
            <a:srgbClr val="1C2E4F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B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2926080"/>
            <a:ext cx="3749040" cy="1371600"/>
          </a:xfrm>
          <a:prstGeom prst="roundRect">
            <a:avLst>
              <a:gd name="adj" fmla="val 6667"/>
            </a:avLst>
          </a:prstGeom>
          <a:solidFill>
            <a:srgbClr val="0E1B33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30632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“My employer hasn't paid my salary for two months.”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983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language — Uzbek or Russian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40680" y="3383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6400800" y="2286000"/>
            <a:ext cx="5148072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0" y="2542032"/>
            <a:ext cx="5148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DAʼVO ARIZASI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0" y="2862072"/>
            <a:ext cx="5148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claim — wage recovery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20840" y="32461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Court:  Andijan district civil court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720840" y="355701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Basis:  Labor Code · CPC art. 188, 189, 191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20840" y="386791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fee:  exempt (labor dispute)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720840" y="43708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040880" y="437083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correctly identified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720840" y="47548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040880" y="47548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amount present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20840" y="51389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040880" y="513892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employment contract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603504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E0BE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generated document is verified with our Supreme Court advisors.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9D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Areeza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0916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08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Starts in Andijan. The world is ahead.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522476" y="2286000"/>
            <a:ext cx="9144000" cy="1078992"/>
          </a:xfrm>
          <a:prstGeom prst="roundRect">
            <a:avLst>
              <a:gd name="adj" fmla="val 5085"/>
            </a:avLst>
          </a:prstGeom>
          <a:solidFill>
            <a:srgbClr val="0E1B33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796796" y="2286000"/>
            <a:ext cx="1371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TAM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259836" y="2286000"/>
            <a:ext cx="71323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legaltech $29.8B → $73B (2035)  ·  1.5B people with unmet justice needs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619756" y="3584448"/>
            <a:ext cx="6949440" cy="1078992"/>
          </a:xfrm>
          <a:prstGeom prst="roundRect">
            <a:avLst>
              <a:gd name="adj" fmla="val 5085"/>
            </a:avLst>
          </a:prstGeom>
          <a:solidFill>
            <a:srgbClr val="1C2E4F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894076" y="3584448"/>
            <a:ext cx="1371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357116" y="3584448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Civil-law digitizing-justice markets — Central Asia + CIS  ·  250–300M people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717036" y="4882896"/>
            <a:ext cx="4754880" cy="1078992"/>
          </a:xfrm>
          <a:prstGeom prst="roundRect">
            <a:avLst>
              <a:gd name="adj" fmla="val 5085"/>
            </a:avLst>
          </a:prstGeom>
          <a:solidFill>
            <a:srgbClr val="C9A227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991356" y="4882896"/>
            <a:ext cx="13716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454396" y="4882896"/>
            <a:ext cx="27432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Uzbekistan — 2M+ civil cases / year, +50% YoY  ·  a market the state is forcing online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40080" y="635508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1.5B underserved (TAM) → 300M in our civil-law region (SAM) → 2M+ filings/year, growing 50% (SOM).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Areeza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16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08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only solution that does it all.</a:t>
            </a:r>
            <a:endParaRPr lang="en-US" sz="3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1090879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783080"/>
                <a:gridCol w="1783080"/>
                <a:gridCol w="1783080"/>
                <a:gridCol w="1783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Areeza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2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Lawyer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e-sud / advice.uz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Understands plain language (UZ/RU)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the correct legal route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Court-ready document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Validates against rejection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Local-law-specific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24/7 · ~$4–8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978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DoNotPay can't even run here</a:t>
            </a:r>
            <a:pPr algn="ctr" indent="0" marL="0">
              <a:buNone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(common-law only, FTC-fined).  </a:t>
            </a:r>
            <a:pPr algn="ctr"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e-sud isn't a competitor — it's our partner.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Areeza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0916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E0B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08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advantage that can't be copied.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212080" cy="1691640"/>
          </a:xfrm>
          <a:prstGeom prst="roundRect">
            <a:avLst>
              <a:gd name="adj" fmla="val 4324"/>
            </a:avLst>
          </a:prstGeom>
          <a:solidFill>
            <a:srgbClr val="1C2E4F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2496312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941832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24688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BE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Supreme Court advisors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54480" y="301752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procedures, real forms, full regulatory compliance — a relationship competitors can't replicate.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36792" y="2194560"/>
            <a:ext cx="5212080" cy="1691640"/>
          </a:xfrm>
          <a:prstGeom prst="roundRect">
            <a:avLst>
              <a:gd name="adj" fmla="val 4324"/>
            </a:avLst>
          </a:prstGeom>
          <a:solidFill>
            <a:srgbClr val="1C2E4F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38544" y="2496312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6638544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51192" y="24688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BE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model tuned for Uzbek/Russian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251192" y="301752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a citizen's story to the right legal procedure — better than a generic model.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5212080" cy="1691640"/>
          </a:xfrm>
          <a:prstGeom prst="roundRect">
            <a:avLst>
              <a:gd name="adj" fmla="val 4324"/>
            </a:avLst>
          </a:prstGeom>
          <a:solidFill>
            <a:srgbClr val="1C2E4F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41832" y="4416552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941832" y="4416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3891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BE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validation engine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54480" y="493776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knows why filings get rejected; this dataset compounds into a moat over time.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36792" y="4114800"/>
            <a:ext cx="5212080" cy="1691640"/>
          </a:xfrm>
          <a:prstGeom prst="roundRect">
            <a:avLst>
              <a:gd name="adj" fmla="val 4324"/>
            </a:avLst>
          </a:prstGeom>
          <a:solidFill>
            <a:srgbClr val="1C2E4F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38544" y="4416552"/>
            <a:ext cx="457200" cy="45720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638544" y="4416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251192" y="43891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BE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speed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51192" y="493776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Ambassador; two AI products shipped solo — the speed this hackathon rewards.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9D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Areeza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0916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MODEL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08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don't charge citizens. The government adopts it.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3502152" cy="2651760"/>
          </a:xfrm>
          <a:prstGeom prst="roundRect">
            <a:avLst>
              <a:gd name="adj" fmla="val 2759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331720"/>
            <a:ext cx="3502152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606040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Government (B2G)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306324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3456432"/>
            <a:ext cx="2953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as the citizen-facing intelligence layer for my.sud.uz. Winning triggers it. Sustained by a state contract / IT Park support.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2331720"/>
            <a:ext cx="3502152" cy="2651760"/>
          </a:xfrm>
          <a:prstGeom prst="roundRect">
            <a:avLst>
              <a:gd name="adj" fmla="val 2759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2331720"/>
            <a:ext cx="3502152" cy="109728"/>
          </a:xfrm>
          <a:prstGeom prst="rect">
            <a:avLst/>
          </a:prstGeom>
          <a:solidFill>
            <a:srgbClr val="1C2E4F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606040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Citizens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17720" y="306324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617720" y="3456432"/>
            <a:ext cx="2953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at the point of use because it's government-backed — that's the impact, and why citizens adopt.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2331720"/>
            <a:ext cx="3502152" cy="2651760"/>
          </a:xfrm>
          <a:prstGeom prst="roundRect">
            <a:avLst>
              <a:gd name="adj" fmla="val 2759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2331720"/>
            <a:ext cx="3502152" cy="109728"/>
          </a:xfrm>
          <a:prstGeom prst="rect">
            <a:avLst/>
          </a:prstGeom>
          <a:solidFill>
            <a:srgbClr val="1C2E4F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2606040"/>
            <a:ext cx="2953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B2B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321040" y="306324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321040" y="3456432"/>
            <a:ext cx="2953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3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drafting + validation for the 149 “Madad” legal-aid bureaus, clinics, and SMEs.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53492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economics:  </a:t>
            </a:r>
            <a:pPr algn="ctr" indent="0" marL="0">
              <a:buNone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lawyer charges $125+; we deliver for ~$4–8 — </a:t>
            </a:r>
            <a:pPr algn="ct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10–30× cheaper</a:t>
            </a:r>
            <a:pPr algn="ctr" indent="0" marL="0">
              <a:buNone/>
            </a:pPr>
            <a:r>
              <a:rPr lang="en-US" sz="15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marginal cost ≈ AI inference.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Areeza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916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E0B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08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Win → government adoption → region.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05840" y="3657600"/>
            <a:ext cx="101498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05256" y="3557016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2743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-91440" y="3977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MVP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96996" y="3511296"/>
            <a:ext cx="292608" cy="292608"/>
          </a:xfrm>
          <a:prstGeom prst="ellipse">
            <a:avLst/>
          </a:prstGeom>
          <a:solidFill>
            <a:srgbClr val="C9A227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37460" y="2743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0BE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Jun 6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2446020" y="3977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track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80176" y="3557016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74920" y="2743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mo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83480" y="3977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· my.sud.uz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517636" y="3557016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12380" y="2743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yr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520940" y="3977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rollout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1055096" y="3557016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149840" y="2743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yr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058400" y="3977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· C. Asia / CIS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9D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Areeza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916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08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team that ships fast — and the Supreme Court.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908792" cy="1600200"/>
          </a:xfrm>
          <a:prstGeom prst="roundRect">
            <a:avLst>
              <a:gd name="adj" fmla="val 4571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87168"/>
            <a:ext cx="1005840" cy="1005840"/>
          </a:xfrm>
          <a:prstGeom prst="ellipse">
            <a:avLst/>
          </a:prstGeom>
          <a:solidFill>
            <a:srgbClr val="0E1B3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8716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BE5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240280" y="2468880"/>
            <a:ext cx="9052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0E1B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Roma Lutfullaev</a:t>
            </a:r>
            <a:endParaRPr lang="en-US" sz="2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Lead — first Cursor Ambassador in Uzbekistan. Built Horyco (restaurant AI OS) and Notiky (AI product brain) solo.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40080" y="4023360"/>
            <a:ext cx="2576322" cy="9144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4023360"/>
            <a:ext cx="25763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Backend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417570" y="4023360"/>
            <a:ext cx="2576322" cy="9144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17570" y="4023360"/>
            <a:ext cx="25763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95060" y="4023360"/>
            <a:ext cx="2576322" cy="9144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95060" y="4023360"/>
            <a:ext cx="25763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(UI/UX)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72550" y="4023360"/>
            <a:ext cx="2576322" cy="914400"/>
          </a:xfrm>
          <a:prstGeom prst="roundRect">
            <a:avLst>
              <a:gd name="adj" fmla="val 8000"/>
            </a:avLst>
          </a:prstGeom>
          <a:solidFill>
            <a:srgbClr val="F1F4F9"/>
          </a:solidFill>
          <a:ln/>
          <a:effectLst>
            <a:outerShdw sx="100000" sy="100000" kx="0" ky="0" algn="bl" rotWithShape="0" blurRad="114300" dist="38100" dir="8100000">
              <a:srgbClr val="0A1428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972550" y="4023360"/>
            <a:ext cx="257632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/ Legal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10908792" cy="822960"/>
          </a:xfrm>
          <a:prstGeom prst="roundRect">
            <a:avLst>
              <a:gd name="adj" fmla="val 6667"/>
            </a:avLst>
          </a:prstGeom>
          <a:solidFill>
            <a:srgbClr val="0E1B3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2120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B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Advisors: 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Oliy Sud — the Supreme Court of the Republic of Uzbekistan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Areeza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9167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331720"/>
            <a:ext cx="64008" cy="18288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224028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don't need funding.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need to win.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86968" y="4206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0BE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winning means the government adopts Areeza — opening the door to justice for millions of citizens a year.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Areeza</a:t>
            </a:r>
            <a:pPr indent="0" marL="0">
              <a:buNone/>
            </a:pPr>
            <a:r>
              <a:rPr lang="en-US" sz="13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 court-ready filing, from a single sentence.   ·   #NationalAIHackathon  #AndijanAI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Areeza — AI legal filing platform</dc:title>
  <dc:subject>PptxGenJS Presentation</dc:subject>
  <dc:creator>Areeza</dc:creator>
  <cp:lastModifiedBy>Areeza</cp:lastModifiedBy>
  <cp:revision>1</cp:revision>
  <dcterms:created xsi:type="dcterms:W3CDTF">2026-06-04T09:48:21Z</dcterms:created>
  <dcterms:modified xsi:type="dcterms:W3CDTF">2026-06-04T09:48:21Z</dcterms:modified>
</cp:coreProperties>
</file>